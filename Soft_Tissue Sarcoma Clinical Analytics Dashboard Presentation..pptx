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1" r:id="rId4"/>
    <p:sldId id="262" r:id="rId5"/>
    <p:sldId id="263" r:id="rId6"/>
    <p:sldId id="264" r:id="rId7"/>
    <p:sldId id="265" r:id="rId8"/>
    <p:sldId id="266" r:id="rId9"/>
    <p:sldId id="267" r:id="rId10"/>
    <p:sldId id="268" r:id="rId11"/>
    <p:sldId id="26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C430"/>
    <a:srgbClr val="1E1E1E"/>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66" y="2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7/21/2026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7/21/2026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7/21/2026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7/21/2026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6E7A8AD-804B-62F3-AD94-C6A05B66CBFF}"/>
              </a:ext>
            </a:extLst>
          </p:cNvPr>
          <p:cNvSpPr txBox="1"/>
          <p:nvPr/>
        </p:nvSpPr>
        <p:spPr>
          <a:xfrm>
            <a:off x="949548" y="406827"/>
            <a:ext cx="822148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chemeClr val="bg1"/>
                </a:solidFill>
                <a:ea typeface="+mn-lt"/>
                <a:cs typeface="+mn-lt"/>
              </a:rPr>
              <a:t>                     </a:t>
            </a:r>
            <a:endParaRPr lang="en-US" sz="2000" b="1">
              <a:solidFill>
                <a:schemeClr val="bg1"/>
              </a:solidFill>
            </a:endParaRPr>
          </a:p>
        </p:txBody>
      </p:sp>
      <p:sp>
        <p:nvSpPr>
          <p:cNvPr id="8" name="TextBox 7">
            <a:extLst>
              <a:ext uri="{FF2B5EF4-FFF2-40B4-BE49-F238E27FC236}">
                <a16:creationId xmlns:a16="http://schemas.microsoft.com/office/drawing/2014/main" id="{8DD4A98D-1F52-115E-84D2-8D9EA161C8D5}"/>
              </a:ext>
            </a:extLst>
          </p:cNvPr>
          <p:cNvSpPr txBox="1"/>
          <p:nvPr/>
        </p:nvSpPr>
        <p:spPr>
          <a:xfrm>
            <a:off x="1149082" y="404099"/>
            <a:ext cx="10080172" cy="57861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en-US" sz="2800" b="1" dirty="0">
                <a:solidFill>
                  <a:srgbClr val="F4C430"/>
                </a:solidFill>
              </a:rPr>
              <a:t>             </a:t>
            </a:r>
            <a:br>
              <a:rPr lang="en-US" sz="2800" b="1" dirty="0">
                <a:solidFill>
                  <a:srgbClr val="F4C430"/>
                </a:solidFill>
              </a:rPr>
            </a:br>
            <a:br>
              <a:rPr lang="en-US" sz="2800" b="1" dirty="0"/>
            </a:br>
            <a:r>
              <a:rPr lang="en-US" sz="2800" b="1" dirty="0">
                <a:solidFill>
                  <a:srgbClr val="F4C430"/>
                </a:solidFill>
              </a:rPr>
              <a:t>                Soft Tissue Sarcoma Clinical Analytics Dashboard</a:t>
            </a:r>
          </a:p>
          <a:p>
            <a:r>
              <a:rPr lang="en-US" sz="2800" b="1" dirty="0">
                <a:solidFill>
                  <a:srgbClr val="F4C430"/>
                </a:solidFill>
              </a:rPr>
              <a:t>       </a:t>
            </a:r>
            <a:r>
              <a:rPr lang="en-US" sz="2800" b="1" dirty="0">
                <a:solidFill>
                  <a:srgbClr val="F4C430"/>
                </a:solidFill>
                <a:latin typeface="Aptos"/>
                <a:cs typeface="Browallia New"/>
              </a:rPr>
              <a:t>                </a:t>
            </a:r>
            <a:r>
              <a:rPr lang="en-US" sz="2800" b="1" dirty="0">
                <a:solidFill>
                  <a:srgbClr val="F4C430"/>
                </a:solidFill>
                <a:latin typeface="Browallia New"/>
                <a:cs typeface="Browallia New"/>
              </a:rPr>
              <a:t>A Power BI Dashboard for Clinical Decision Support</a:t>
            </a:r>
            <a:br>
              <a:rPr lang="en-US" sz="2800" b="1" dirty="0">
                <a:latin typeface="Browallia New"/>
                <a:cs typeface="Browallia New"/>
              </a:rPr>
            </a:br>
            <a:endParaRPr lang="en-US" sz="2800" dirty="0">
              <a:solidFill>
                <a:srgbClr val="F4C430"/>
              </a:solidFill>
            </a:endParaRPr>
          </a:p>
          <a:p>
            <a:r>
              <a:rPr lang="en-US" b="1" dirty="0">
                <a:solidFill>
                  <a:srgbClr val="F4C430"/>
                </a:solidFill>
                <a:ea typeface="+mn-lt"/>
                <a:cs typeface="+mn-lt"/>
              </a:rPr>
              <a:t> </a:t>
            </a:r>
            <a:r>
              <a:rPr lang="en-US" sz="2400" b="1" dirty="0">
                <a:solidFill>
                  <a:srgbClr val="F4C430"/>
                </a:solidFill>
                <a:ea typeface="+mn-lt"/>
                <a:cs typeface="+mn-lt"/>
              </a:rPr>
              <a:t>                                           </a:t>
            </a:r>
            <a:r>
              <a:rPr lang="en-US" sz="2400" b="1" dirty="0">
                <a:solidFill>
                  <a:srgbClr val="F4C430"/>
                </a:solidFill>
                <a:latin typeface="Aptos"/>
                <a:ea typeface="+mn-lt"/>
                <a:cs typeface="Browallia New"/>
              </a:rPr>
              <a:t>              </a:t>
            </a:r>
            <a:r>
              <a:rPr lang="en-US" sz="2400" b="1" dirty="0">
                <a:solidFill>
                  <a:srgbClr val="F4C430"/>
                </a:solidFill>
                <a:latin typeface="Browallia New"/>
                <a:ea typeface="+mn-lt"/>
                <a:cs typeface="Browallia New"/>
              </a:rPr>
              <a:t>Presented By </a:t>
            </a:r>
            <a:br>
              <a:rPr lang="en-US" sz="2400" b="1" dirty="0">
                <a:latin typeface="Browallia New"/>
                <a:ea typeface="+mn-lt"/>
                <a:cs typeface="Browallia New"/>
              </a:rPr>
            </a:br>
            <a:br>
              <a:rPr lang="en-US" sz="2000" b="1" dirty="0">
                <a:ea typeface="+mn-lt"/>
                <a:cs typeface="+mn-lt"/>
              </a:rPr>
            </a:br>
            <a:r>
              <a:rPr lang="en-US" b="1" dirty="0">
                <a:solidFill>
                  <a:srgbClr val="F4C430"/>
                </a:solidFill>
                <a:ea typeface="+mn-lt"/>
                <a:cs typeface="+mn-lt"/>
              </a:rPr>
              <a:t>                                                                      </a:t>
            </a:r>
            <a:r>
              <a:rPr lang="en-US" b="1" dirty="0" err="1">
                <a:solidFill>
                  <a:srgbClr val="F4C430"/>
                </a:solidFill>
                <a:ea typeface="+mn-lt"/>
                <a:cs typeface="+mn-lt"/>
              </a:rPr>
              <a:t>Mfoniso</a:t>
            </a:r>
            <a:r>
              <a:rPr lang="en-US" b="1" dirty="0">
                <a:solidFill>
                  <a:srgbClr val="F4C430"/>
                </a:solidFill>
                <a:ea typeface="+mn-lt"/>
                <a:cs typeface="+mn-lt"/>
              </a:rPr>
              <a:t> Isaac Udo    </a:t>
            </a:r>
            <a:r>
              <a:rPr lang="en-US" b="1" dirty="0"/>
              <a:t>Presented by</a:t>
            </a:r>
            <a:br>
              <a:rPr lang="en-US" b="1" dirty="0"/>
            </a:br>
            <a:r>
              <a:rPr lang="en-US" b="1" dirty="0"/>
              <a:t>    </a:t>
            </a:r>
            <a:r>
              <a:rPr lang="en-US" b="1" dirty="0">
                <a:solidFill>
                  <a:srgbClr val="000000"/>
                </a:solidFill>
              </a:rPr>
              <a:t>                                    </a:t>
            </a:r>
            <a:r>
              <a:rPr lang="en-US" b="1" dirty="0">
                <a:solidFill>
                  <a:srgbClr val="F4C430"/>
                </a:solidFill>
              </a:rPr>
              <a:t>Certified</a:t>
            </a:r>
            <a:r>
              <a:rPr lang="en-US" b="1" dirty="0">
                <a:solidFill>
                  <a:srgbClr val="F4C430"/>
                </a:solidFill>
                <a:ea typeface="+mn-lt"/>
                <a:cs typeface="+mn-lt"/>
              </a:rPr>
              <a:t> Oncology Nurse | Data Analyst</a:t>
            </a:r>
            <a:br>
              <a:rPr lang="en-US" b="1" dirty="0">
                <a:solidFill>
                  <a:srgbClr val="F4C430"/>
                </a:solidFill>
                <a:ea typeface="+mn-lt"/>
                <a:cs typeface="+mn-lt"/>
              </a:rPr>
            </a:br>
            <a:br>
              <a:rPr lang="en-US" b="1" dirty="0">
                <a:ea typeface="+mn-lt"/>
                <a:cs typeface="+mn-lt"/>
              </a:rPr>
            </a:br>
            <a:endParaRPr lang="en-US" dirty="0">
              <a:solidFill>
                <a:srgbClr val="F4C430"/>
              </a:solidFill>
            </a:endParaRPr>
          </a:p>
          <a:p>
            <a:r>
              <a:rPr lang="en-US" dirty="0">
                <a:solidFill>
                  <a:srgbClr val="F4C430"/>
                </a:solidFill>
                <a:ea typeface="+mn-lt"/>
                <a:cs typeface="+mn-lt"/>
              </a:rPr>
              <a:t>                                                          </a:t>
            </a:r>
            <a:r>
              <a:rPr lang="en-US" dirty="0">
                <a:solidFill>
                  <a:srgbClr val="F4C430"/>
                </a:solidFill>
                <a:latin typeface="Browallia New"/>
                <a:ea typeface="+mn-lt"/>
                <a:cs typeface="Browallia New"/>
              </a:rPr>
              <a:t>              </a:t>
            </a:r>
            <a:r>
              <a:rPr lang="en-US" sz="2400" b="1" dirty="0">
                <a:solidFill>
                  <a:srgbClr val="F4C430"/>
                </a:solidFill>
                <a:latin typeface="Browallia New"/>
                <a:ea typeface="+mn-lt"/>
                <a:cs typeface="Browallia New"/>
              </a:rPr>
              <a:t>Tools Used </a:t>
            </a:r>
            <a:br>
              <a:rPr lang="en-US" sz="2400" b="1" dirty="0">
                <a:ea typeface="+mn-lt"/>
                <a:cs typeface="+mn-lt"/>
              </a:rPr>
            </a:br>
            <a:endParaRPr lang="en-US" dirty="0">
              <a:solidFill>
                <a:srgbClr val="F4C430"/>
              </a:solidFill>
            </a:endParaRPr>
          </a:p>
          <a:p>
            <a:r>
              <a:rPr lang="en-US" dirty="0">
                <a:solidFill>
                  <a:srgbClr val="F4C430"/>
                </a:solidFill>
              </a:rPr>
              <a:t>                    </a:t>
            </a:r>
            <a:r>
              <a:rPr lang="en-US" b="1" dirty="0">
                <a:solidFill>
                  <a:srgbClr val="F4C430"/>
                </a:solidFill>
              </a:rPr>
              <a:t>                Microsoft Power BI  | Power Query</a:t>
            </a:r>
            <a:br>
              <a:rPr lang="en-US" b="1" dirty="0">
                <a:solidFill>
                  <a:srgbClr val="F4C430"/>
                </a:solidFill>
              </a:rPr>
            </a:br>
            <a:r>
              <a:rPr lang="en-US" b="1" dirty="0">
                <a:solidFill>
                  <a:srgbClr val="F4C430"/>
                </a:solidFill>
              </a:rPr>
              <a:t>                                    DAX |  Excel</a:t>
            </a:r>
            <a:endParaRPr lang="en-US" b="1" dirty="0">
              <a:solidFill>
                <a:srgbClr val="000000"/>
              </a:solidFill>
            </a:endParaRPr>
          </a:p>
          <a:p>
            <a:pPr marL="285750" indent="-285750">
              <a:buFont typeface="Arial"/>
              <a:buChar char="•"/>
            </a:pPr>
            <a:endParaRPr lang="en-US" b="1" dirty="0">
              <a:solidFill>
                <a:srgbClr val="F4C430"/>
              </a:solidFill>
            </a:endParaRPr>
          </a:p>
          <a:p>
            <a:pPr marL="285750" indent="-285750">
              <a:buFont typeface="Arial"/>
              <a:buChar char="•"/>
            </a:pPr>
            <a:endParaRPr lang="en-US" b="1" dirty="0">
              <a:solidFill>
                <a:srgbClr val="F4C430"/>
              </a:solidFill>
            </a:endParaRPr>
          </a:p>
        </p:txBody>
      </p:sp>
      <p:pic>
        <p:nvPicPr>
          <p:cNvPr id="10" name="Picture 9" descr="A yellow ribbon with butterflies around it&#10;&#10;AI-generated content may be incorrect.">
            <a:extLst>
              <a:ext uri="{FF2B5EF4-FFF2-40B4-BE49-F238E27FC236}">
                <a16:creationId xmlns:a16="http://schemas.microsoft.com/office/drawing/2014/main" id="{7050D26A-B029-E651-3EF5-BF525C05F2C3}"/>
              </a:ext>
            </a:extLst>
          </p:cNvPr>
          <p:cNvPicPr>
            <a:picLocks noChangeAspect="1"/>
          </p:cNvPicPr>
          <p:nvPr/>
        </p:nvPicPr>
        <p:blipFill>
          <a:blip r:embed="rId2"/>
          <a:stretch>
            <a:fillRect/>
          </a:stretch>
        </p:blipFill>
        <p:spPr>
          <a:xfrm>
            <a:off x="2275544" y="1350149"/>
            <a:ext cx="282650" cy="375932"/>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3E17021-14FB-25B6-CD7F-7B2530E2229A}"/>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0395408B-928B-E5DE-EC15-433F0161ED20}"/>
              </a:ext>
            </a:extLst>
          </p:cNvPr>
          <p:cNvPicPr>
            <a:picLocks noChangeAspect="1"/>
          </p:cNvPicPr>
          <p:nvPr/>
        </p:nvPicPr>
        <p:blipFill>
          <a:blip r:embed="rId2"/>
          <a:srcRect r="-1190" b="-901"/>
          <a:stretch>
            <a:fillRect/>
          </a:stretch>
        </p:blipFill>
        <p:spPr>
          <a:xfrm flipH="1">
            <a:off x="3725069" y="268061"/>
            <a:ext cx="302419" cy="401079"/>
          </a:xfrm>
          <a:prstGeom prst="rect">
            <a:avLst/>
          </a:prstGeom>
        </p:spPr>
      </p:pic>
      <p:sp>
        <p:nvSpPr>
          <p:cNvPr id="18" name="TextBox 17">
            <a:extLst>
              <a:ext uri="{FF2B5EF4-FFF2-40B4-BE49-F238E27FC236}">
                <a16:creationId xmlns:a16="http://schemas.microsoft.com/office/drawing/2014/main" id="{F7ADC60C-F02A-F5A8-72CB-F58CF05E5E82}"/>
              </a:ext>
            </a:extLst>
          </p:cNvPr>
          <p:cNvSpPr txBox="1"/>
          <p:nvPr/>
        </p:nvSpPr>
        <p:spPr>
          <a:xfrm flipH="1">
            <a:off x="2269066" y="-354995"/>
            <a:ext cx="7549848" cy="75716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9" name="TextBox 18">
            <a:extLst>
              <a:ext uri="{FF2B5EF4-FFF2-40B4-BE49-F238E27FC236}">
                <a16:creationId xmlns:a16="http://schemas.microsoft.com/office/drawing/2014/main" id="{7C2E2EA7-3385-9CE0-CF8C-FCD46DE651F5}"/>
              </a:ext>
            </a:extLst>
          </p:cNvPr>
          <p:cNvSpPr txBox="1"/>
          <p:nvPr/>
        </p:nvSpPr>
        <p:spPr>
          <a:xfrm>
            <a:off x="1930400" y="177800"/>
            <a:ext cx="68199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F4C430"/>
                </a:solidFill>
                <a:ea typeface="+mn-lt"/>
                <a:cs typeface="+mn-lt"/>
              </a:rPr>
              <a:t>         Project Overview</a:t>
            </a:r>
            <a:endParaRPr lang="en-US" sz="3200" b="1">
              <a:solidFill>
                <a:srgbClr val="F4C430"/>
              </a:solidFill>
            </a:endParaRPr>
          </a:p>
        </p:txBody>
      </p:sp>
      <p:sp>
        <p:nvSpPr>
          <p:cNvPr id="21" name="TextBox 20">
            <a:extLst>
              <a:ext uri="{FF2B5EF4-FFF2-40B4-BE49-F238E27FC236}">
                <a16:creationId xmlns:a16="http://schemas.microsoft.com/office/drawing/2014/main" id="{4AD78163-FE9A-519A-3995-9659101F997E}"/>
              </a:ext>
            </a:extLst>
          </p:cNvPr>
          <p:cNvSpPr txBox="1"/>
          <p:nvPr/>
        </p:nvSpPr>
        <p:spPr>
          <a:xfrm>
            <a:off x="177800" y="736600"/>
            <a:ext cx="30607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err="1">
                <a:solidFill>
                  <a:srgbClr val="F4C430"/>
                </a:solidFill>
              </a:rPr>
              <a:t>Backgroun</a:t>
            </a:r>
            <a:r>
              <a:rPr lang="en-US" sz="2400" b="1">
                <a:solidFill>
                  <a:srgbClr val="F4C430"/>
                </a:solidFill>
              </a:rPr>
              <a:t>d</a:t>
            </a:r>
          </a:p>
        </p:txBody>
      </p:sp>
      <p:sp>
        <p:nvSpPr>
          <p:cNvPr id="22" name="TextBox 21">
            <a:extLst>
              <a:ext uri="{FF2B5EF4-FFF2-40B4-BE49-F238E27FC236}">
                <a16:creationId xmlns:a16="http://schemas.microsoft.com/office/drawing/2014/main" id="{099F95B8-4819-AE32-5029-1CFAC5641B90}"/>
              </a:ext>
            </a:extLst>
          </p:cNvPr>
          <p:cNvSpPr txBox="1"/>
          <p:nvPr/>
        </p:nvSpPr>
        <p:spPr>
          <a:xfrm>
            <a:off x="177800" y="1346200"/>
            <a:ext cx="691515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solidFill>
              </a:rPr>
              <a:t>Soft tissue sarcoma comprises a diverse group of rare cancers arising from connective tissues such as muscle, fat, nerves and blood vessels. Because of their rarity and complexity, understanding patient demographics, treatment patterns, metastasis and survival outcomes is essential for improving clinical decision-making.</a:t>
            </a:r>
          </a:p>
        </p:txBody>
      </p:sp>
      <p:sp>
        <p:nvSpPr>
          <p:cNvPr id="25" name="TextBox 24">
            <a:extLst>
              <a:ext uri="{FF2B5EF4-FFF2-40B4-BE49-F238E27FC236}">
                <a16:creationId xmlns:a16="http://schemas.microsoft.com/office/drawing/2014/main" id="{AAFAEFD6-DDF2-371C-EE9A-0F847CEB5312}"/>
              </a:ext>
            </a:extLst>
          </p:cNvPr>
          <p:cNvSpPr txBox="1"/>
          <p:nvPr/>
        </p:nvSpPr>
        <p:spPr>
          <a:xfrm>
            <a:off x="393700" y="3098800"/>
            <a:ext cx="281305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rgbClr val="F4C430"/>
                </a:solidFill>
                <a:ea typeface="+mn-lt"/>
                <a:cs typeface="+mn-lt"/>
              </a:rPr>
              <a:t>Project Objective</a:t>
            </a:r>
            <a:endParaRPr lang="en-US" sz="2400" b="1">
              <a:solidFill>
                <a:srgbClr val="F4C430"/>
              </a:solidFill>
            </a:endParaRPr>
          </a:p>
        </p:txBody>
      </p:sp>
      <p:sp>
        <p:nvSpPr>
          <p:cNvPr id="26" name="TextBox 25">
            <a:extLst>
              <a:ext uri="{FF2B5EF4-FFF2-40B4-BE49-F238E27FC236}">
                <a16:creationId xmlns:a16="http://schemas.microsoft.com/office/drawing/2014/main" id="{558A6248-1EE7-0995-3499-661A8FBC5C59}"/>
              </a:ext>
            </a:extLst>
          </p:cNvPr>
          <p:cNvSpPr txBox="1"/>
          <p:nvPr/>
        </p:nvSpPr>
        <p:spPr>
          <a:xfrm>
            <a:off x="158750" y="3683000"/>
            <a:ext cx="8274050"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ea typeface="+mn-lt"/>
                <a:cs typeface="+mn-lt"/>
              </a:rPr>
              <a:t>This project aims to transform raw clinical data into an interactive Power BI dashboard that enables healthcare professionals to:</a:t>
            </a:r>
            <a:br>
              <a:rPr lang="en-US" dirty="0">
                <a:solidFill>
                  <a:schemeClr val="bg1"/>
                </a:solidFill>
                <a:ea typeface="+mn-lt"/>
                <a:cs typeface="+mn-lt"/>
              </a:rPr>
            </a:br>
            <a:endParaRPr lang="en-US" dirty="0">
              <a:solidFill>
                <a:schemeClr val="bg1"/>
              </a:solidFill>
            </a:endParaRPr>
          </a:p>
          <a:p>
            <a:pPr marL="285750" indent="-285750">
              <a:buFont typeface="Arial"/>
              <a:buChar char="•"/>
            </a:pPr>
            <a:r>
              <a:rPr lang="en-US">
                <a:solidFill>
                  <a:schemeClr val="bg1"/>
                </a:solidFill>
                <a:ea typeface="+mn-lt"/>
                <a:cs typeface="+mn-lt"/>
              </a:rPr>
              <a:t>Understand patient demographics </a:t>
            </a:r>
            <a:endParaRPr lang="en-US" dirty="0">
              <a:solidFill>
                <a:schemeClr val="bg1"/>
              </a:solidFill>
            </a:endParaRPr>
          </a:p>
          <a:p>
            <a:pPr marL="285750" indent="-285750">
              <a:buFont typeface="Arial"/>
              <a:buChar char="•"/>
            </a:pPr>
            <a:r>
              <a:rPr lang="en-US">
                <a:solidFill>
                  <a:schemeClr val="bg1"/>
                </a:solidFill>
                <a:ea typeface="+mn-lt"/>
                <a:cs typeface="+mn-lt"/>
              </a:rPr>
              <a:t>Explore tumor characteristics </a:t>
            </a:r>
            <a:endParaRPr lang="en-US" dirty="0">
              <a:solidFill>
                <a:schemeClr val="bg1"/>
              </a:solidFill>
            </a:endParaRPr>
          </a:p>
          <a:p>
            <a:pPr marL="285750" indent="-285750">
              <a:buFont typeface="Arial"/>
              <a:buChar char="•"/>
            </a:pPr>
            <a:r>
              <a:rPr lang="en-US">
                <a:solidFill>
                  <a:schemeClr val="bg1"/>
                </a:solidFill>
                <a:ea typeface="+mn-lt"/>
                <a:cs typeface="+mn-lt"/>
              </a:rPr>
              <a:t>Analyze metastasis and recurrence </a:t>
            </a:r>
            <a:endParaRPr lang="en-US" dirty="0">
              <a:solidFill>
                <a:schemeClr val="bg1"/>
              </a:solidFill>
            </a:endParaRPr>
          </a:p>
          <a:p>
            <a:pPr marL="285750" indent="-285750">
              <a:buFont typeface="Arial"/>
              <a:buChar char="•"/>
            </a:pPr>
            <a:r>
              <a:rPr lang="en-US">
                <a:solidFill>
                  <a:schemeClr val="bg1"/>
                </a:solidFill>
                <a:ea typeface="+mn-lt"/>
                <a:cs typeface="+mn-lt"/>
              </a:rPr>
              <a:t>Evaluate treatment approaches </a:t>
            </a:r>
            <a:endParaRPr lang="en-US" dirty="0">
              <a:solidFill>
                <a:schemeClr val="bg1"/>
              </a:solidFill>
            </a:endParaRPr>
          </a:p>
          <a:p>
            <a:pPr marL="285750" indent="-285750">
              <a:buFont typeface="Arial"/>
              <a:buChar char="•"/>
            </a:pPr>
            <a:r>
              <a:rPr lang="en-US">
                <a:solidFill>
                  <a:schemeClr val="bg1"/>
                </a:solidFill>
                <a:ea typeface="+mn-lt"/>
                <a:cs typeface="+mn-lt"/>
              </a:rPr>
              <a:t>Assess survival outcomes</a:t>
            </a:r>
            <a:endParaRPr lang="en-US" dirty="0">
              <a:solidFill>
                <a:schemeClr val="bg1"/>
              </a:solidFill>
            </a:endParaRPr>
          </a:p>
          <a:p>
            <a:pPr algn="l"/>
            <a:endParaRPr lang="en-US" dirty="0">
              <a:solidFill>
                <a:schemeClr val="bg1"/>
              </a:solidFill>
            </a:endParaRPr>
          </a:p>
        </p:txBody>
      </p:sp>
      <p:pic>
        <p:nvPicPr>
          <p:cNvPr id="27" name="Picture 26">
            <a:extLst>
              <a:ext uri="{FF2B5EF4-FFF2-40B4-BE49-F238E27FC236}">
                <a16:creationId xmlns:a16="http://schemas.microsoft.com/office/drawing/2014/main" id="{F4A35C9C-CD42-E6FD-D60B-10854EF9F688}"/>
              </a:ext>
            </a:extLst>
          </p:cNvPr>
          <p:cNvPicPr>
            <a:picLocks noChangeAspect="1"/>
          </p:cNvPicPr>
          <p:nvPr/>
        </p:nvPicPr>
        <p:blipFill>
          <a:blip r:embed="rId3"/>
          <a:stretch>
            <a:fillRect/>
          </a:stretch>
        </p:blipFill>
        <p:spPr>
          <a:xfrm>
            <a:off x="7689850" y="1462088"/>
            <a:ext cx="4356100" cy="4924425"/>
          </a:xfrm>
          <a:prstGeom prst="rect">
            <a:avLst/>
          </a:prstGeom>
        </p:spPr>
      </p:pic>
    </p:spTree>
    <p:extLst>
      <p:ext uri="{BB962C8B-B14F-4D97-AF65-F5344CB8AC3E}">
        <p14:creationId xmlns:p14="http://schemas.microsoft.com/office/powerpoint/2010/main" val="39068209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C2B6767-7ACF-9E9B-67D6-F426C02B49F8}"/>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BAA99F65-1358-8220-A9CE-BC4F4CDCAE57}"/>
              </a:ext>
            </a:extLst>
          </p:cNvPr>
          <p:cNvPicPr>
            <a:picLocks noChangeAspect="1"/>
          </p:cNvPicPr>
          <p:nvPr/>
        </p:nvPicPr>
        <p:blipFill>
          <a:blip r:embed="rId2"/>
          <a:srcRect r="-1190" b="-901"/>
          <a:stretch>
            <a:fillRect/>
          </a:stretch>
        </p:blipFill>
        <p:spPr>
          <a:xfrm flipH="1">
            <a:off x="3960019" y="83911"/>
            <a:ext cx="340519" cy="470929"/>
          </a:xfrm>
          <a:prstGeom prst="rect">
            <a:avLst/>
          </a:prstGeom>
        </p:spPr>
      </p:pic>
      <p:sp>
        <p:nvSpPr>
          <p:cNvPr id="18" name="TextBox 17">
            <a:extLst>
              <a:ext uri="{FF2B5EF4-FFF2-40B4-BE49-F238E27FC236}">
                <a16:creationId xmlns:a16="http://schemas.microsoft.com/office/drawing/2014/main" id="{5EECCD7B-7B36-C68F-0623-270AF69FE805}"/>
              </a:ext>
            </a:extLst>
          </p:cNvPr>
          <p:cNvSpPr txBox="1"/>
          <p:nvPr/>
        </p:nvSpPr>
        <p:spPr>
          <a:xfrm flipH="1">
            <a:off x="2269066" y="-354995"/>
            <a:ext cx="7549848" cy="75716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9" name="TextBox 18">
            <a:extLst>
              <a:ext uri="{FF2B5EF4-FFF2-40B4-BE49-F238E27FC236}">
                <a16:creationId xmlns:a16="http://schemas.microsoft.com/office/drawing/2014/main" id="{BC2D9CD7-68EA-1588-4B6B-2DA5246B928B}"/>
              </a:ext>
            </a:extLst>
          </p:cNvPr>
          <p:cNvSpPr txBox="1"/>
          <p:nvPr/>
        </p:nvSpPr>
        <p:spPr>
          <a:xfrm>
            <a:off x="2082800" y="57150"/>
            <a:ext cx="67564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F4C430"/>
                </a:solidFill>
                <a:ea typeface="+mn-lt"/>
                <a:cs typeface="+mn-lt"/>
              </a:rPr>
              <a:t>                           Dataset Overview</a:t>
            </a:r>
            <a:endParaRPr lang="en-US" b="1">
              <a:ea typeface="+mn-lt"/>
              <a:cs typeface="+mn-lt"/>
            </a:endParaRPr>
          </a:p>
        </p:txBody>
      </p:sp>
      <p:sp>
        <p:nvSpPr>
          <p:cNvPr id="21" name="TextBox 20">
            <a:extLst>
              <a:ext uri="{FF2B5EF4-FFF2-40B4-BE49-F238E27FC236}">
                <a16:creationId xmlns:a16="http://schemas.microsoft.com/office/drawing/2014/main" id="{A47FB902-3E78-5A7F-1BE3-7DA06E4BD5AB}"/>
              </a:ext>
            </a:extLst>
          </p:cNvPr>
          <p:cNvSpPr txBox="1"/>
          <p:nvPr/>
        </p:nvSpPr>
        <p:spPr>
          <a:xfrm>
            <a:off x="184150" y="736600"/>
            <a:ext cx="446405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solidFill>
                  <a:srgbClr val="F4C430"/>
                </a:solidFill>
                <a:ea typeface="+mn-lt"/>
                <a:cs typeface="+mn-lt"/>
              </a:rPr>
              <a:t>     </a:t>
            </a:r>
            <a:r>
              <a:rPr lang="en-US" sz="2400" b="1">
                <a:solidFill>
                  <a:srgbClr val="F4C430"/>
                </a:solidFill>
                <a:ea typeface="+mn-lt"/>
                <a:cs typeface="+mn-lt"/>
              </a:rPr>
              <a:t>Dataset Description</a:t>
            </a:r>
            <a:endParaRPr lang="en-US" b="1"/>
          </a:p>
        </p:txBody>
      </p:sp>
      <p:sp>
        <p:nvSpPr>
          <p:cNvPr id="22" name="TextBox 21">
            <a:extLst>
              <a:ext uri="{FF2B5EF4-FFF2-40B4-BE49-F238E27FC236}">
                <a16:creationId xmlns:a16="http://schemas.microsoft.com/office/drawing/2014/main" id="{0ECD1752-1E3D-13CA-8303-EE959D717D89}"/>
              </a:ext>
            </a:extLst>
          </p:cNvPr>
          <p:cNvSpPr txBox="1"/>
          <p:nvPr/>
        </p:nvSpPr>
        <p:spPr>
          <a:xfrm>
            <a:off x="1301750" y="1187450"/>
            <a:ext cx="4121150" cy="320087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F4C430"/>
                </a:solidFill>
              </a:rPr>
              <a:t>Dataset Summary :</a:t>
            </a:r>
          </a:p>
          <a:p>
            <a:pPr marL="285750" indent="-285750">
              <a:buFont typeface="Arial"/>
              <a:buChar char="•"/>
            </a:pPr>
            <a:r>
              <a:rPr lang="en-US">
                <a:solidFill>
                  <a:schemeClr val="bg1"/>
                </a:solidFill>
                <a:ea typeface="+mn-lt"/>
                <a:cs typeface="+mn-lt"/>
              </a:rPr>
              <a:t>Total Patients: </a:t>
            </a:r>
            <a:r>
              <a:rPr lang="en-US" b="1">
                <a:solidFill>
                  <a:schemeClr val="bg1"/>
                </a:solidFill>
                <a:ea typeface="+mn-lt"/>
                <a:cs typeface="+mn-lt"/>
              </a:rPr>
              <a:t>51</a:t>
            </a:r>
            <a:r>
              <a:rPr lang="en-US" dirty="0">
                <a:solidFill>
                  <a:schemeClr val="bg1"/>
                </a:solidFill>
                <a:ea typeface="+mn-lt"/>
                <a:cs typeface="+mn-lt"/>
              </a:rPr>
              <a:t> </a:t>
            </a:r>
            <a:endParaRPr lang="en-US" dirty="0">
              <a:solidFill>
                <a:schemeClr val="bg1"/>
              </a:solidFill>
            </a:endParaRPr>
          </a:p>
          <a:p>
            <a:pPr marL="285750" indent="-285750">
              <a:buFont typeface="Arial"/>
              <a:buChar char="•"/>
            </a:pPr>
            <a:r>
              <a:rPr lang="en-US">
                <a:solidFill>
                  <a:schemeClr val="bg1"/>
                </a:solidFill>
                <a:ea typeface="+mn-lt"/>
                <a:cs typeface="+mn-lt"/>
              </a:rPr>
              <a:t>Clinical Variables: </a:t>
            </a:r>
            <a:r>
              <a:rPr lang="en-US" b="1">
                <a:solidFill>
                  <a:schemeClr val="bg1"/>
                </a:solidFill>
                <a:ea typeface="+mn-lt"/>
                <a:cs typeface="+mn-lt"/>
              </a:rPr>
              <a:t>30+</a:t>
            </a:r>
            <a:r>
              <a:rPr lang="en-US" dirty="0">
                <a:solidFill>
                  <a:schemeClr val="bg1"/>
                </a:solidFill>
                <a:ea typeface="+mn-lt"/>
                <a:cs typeface="+mn-lt"/>
              </a:rPr>
              <a:t> </a:t>
            </a:r>
            <a:endParaRPr lang="en-US" dirty="0">
              <a:solidFill>
                <a:schemeClr val="bg1"/>
              </a:solidFill>
            </a:endParaRPr>
          </a:p>
          <a:p>
            <a:pPr marL="285750" indent="-285750">
              <a:buFont typeface="Arial"/>
              <a:buChar char="•"/>
            </a:pPr>
            <a:r>
              <a:rPr lang="en-US">
                <a:solidFill>
                  <a:schemeClr val="bg1"/>
                </a:solidFill>
                <a:ea typeface="+mn-lt"/>
                <a:cs typeface="+mn-lt"/>
              </a:rPr>
              <a:t>Histological Types: </a:t>
            </a:r>
            <a:r>
              <a:rPr lang="en-US" b="1">
                <a:solidFill>
                  <a:schemeClr val="bg1"/>
                </a:solidFill>
                <a:ea typeface="+mn-lt"/>
                <a:cs typeface="+mn-lt"/>
              </a:rPr>
              <a:t>30</a:t>
            </a:r>
            <a:r>
              <a:rPr lang="en-US" dirty="0">
                <a:solidFill>
                  <a:schemeClr val="bg1"/>
                </a:solidFill>
                <a:ea typeface="+mn-lt"/>
                <a:cs typeface="+mn-lt"/>
              </a:rPr>
              <a:t> </a:t>
            </a:r>
            <a:endParaRPr lang="en-US" dirty="0">
              <a:solidFill>
                <a:schemeClr val="bg1"/>
              </a:solidFill>
            </a:endParaRPr>
          </a:p>
          <a:p>
            <a:pPr marL="285750" indent="-285750">
              <a:buFont typeface="Arial"/>
              <a:buChar char="•"/>
            </a:pPr>
            <a:r>
              <a:rPr lang="en-US">
                <a:solidFill>
                  <a:schemeClr val="bg1"/>
                </a:solidFill>
                <a:ea typeface="+mn-lt"/>
                <a:cs typeface="+mn-lt"/>
              </a:rPr>
              <a:t>Sarcoma Families: </a:t>
            </a:r>
            <a:r>
              <a:rPr lang="en-US" b="1">
                <a:solidFill>
                  <a:schemeClr val="bg1"/>
                </a:solidFill>
                <a:ea typeface="+mn-lt"/>
                <a:cs typeface="+mn-lt"/>
              </a:rPr>
              <a:t>9</a:t>
            </a:r>
            <a:r>
              <a:rPr lang="en-US" dirty="0">
                <a:solidFill>
                  <a:schemeClr val="bg1"/>
                </a:solidFill>
                <a:ea typeface="+mn-lt"/>
                <a:cs typeface="+mn-lt"/>
              </a:rPr>
              <a:t> </a:t>
            </a:r>
            <a:endParaRPr lang="en-US" dirty="0">
              <a:solidFill>
                <a:schemeClr val="bg1"/>
              </a:solidFill>
            </a:endParaRPr>
          </a:p>
          <a:p>
            <a:pPr marL="285750" indent="-285750">
              <a:buFont typeface="Arial"/>
              <a:buChar char="•"/>
            </a:pPr>
            <a:r>
              <a:rPr lang="en-US">
                <a:solidFill>
                  <a:schemeClr val="bg1"/>
                </a:solidFill>
                <a:ea typeface="+mn-lt"/>
                <a:cs typeface="+mn-lt"/>
              </a:rPr>
              <a:t>Treatment Categories: </a:t>
            </a:r>
            <a:r>
              <a:rPr lang="en-US" b="1">
                <a:solidFill>
                  <a:schemeClr val="bg1"/>
                </a:solidFill>
                <a:ea typeface="+mn-lt"/>
                <a:cs typeface="+mn-lt"/>
              </a:rPr>
              <a:t>3</a:t>
            </a:r>
            <a:r>
              <a:rPr lang="en-US" dirty="0">
                <a:solidFill>
                  <a:schemeClr val="bg1"/>
                </a:solidFill>
                <a:ea typeface="+mn-lt"/>
                <a:cs typeface="+mn-lt"/>
              </a:rPr>
              <a:t> </a:t>
            </a:r>
          </a:p>
          <a:p>
            <a:pPr marL="285750" indent="-285750">
              <a:buFont typeface="Arial"/>
              <a:buChar char="•"/>
            </a:pPr>
            <a:r>
              <a:rPr lang="en-US" sz="2000" b="1">
                <a:solidFill>
                  <a:srgbClr val="F4C430"/>
                </a:solidFill>
                <a:ea typeface="+mn-lt"/>
                <a:cs typeface="+mn-lt"/>
              </a:rPr>
              <a:t>Outcome Categories:</a:t>
            </a:r>
            <a:r>
              <a:rPr lang="en-US">
                <a:solidFill>
                  <a:srgbClr val="F4C430"/>
                </a:solidFill>
                <a:ea typeface="+mn-lt"/>
                <a:cs typeface="+mn-lt"/>
              </a:rPr>
              <a:t> </a:t>
            </a:r>
            <a:endParaRPr lang="en-US">
              <a:solidFill>
                <a:srgbClr val="F4C430"/>
              </a:solidFill>
            </a:endParaRPr>
          </a:p>
          <a:p>
            <a:pPr marL="742950" lvl="1" indent="-285750">
              <a:buFont typeface="Arial"/>
              <a:buChar char="•"/>
            </a:pPr>
            <a:r>
              <a:rPr lang="en-US">
                <a:solidFill>
                  <a:schemeClr val="bg1"/>
                </a:solidFill>
                <a:ea typeface="+mn-lt"/>
                <a:cs typeface="+mn-lt"/>
              </a:rPr>
              <a:t>No Event </a:t>
            </a:r>
            <a:endParaRPr lang="en-US">
              <a:solidFill>
                <a:schemeClr val="bg1"/>
              </a:solidFill>
            </a:endParaRPr>
          </a:p>
          <a:p>
            <a:pPr marL="742950" lvl="1" indent="-285750">
              <a:buFont typeface="Arial"/>
              <a:buChar char="•"/>
            </a:pPr>
            <a:r>
              <a:rPr lang="en-US">
                <a:solidFill>
                  <a:schemeClr val="bg1"/>
                </a:solidFill>
                <a:ea typeface="+mn-lt"/>
                <a:cs typeface="+mn-lt"/>
              </a:rPr>
              <a:t>Metastasis </a:t>
            </a:r>
            <a:endParaRPr lang="en-US">
              <a:solidFill>
                <a:schemeClr val="bg1"/>
              </a:solidFill>
            </a:endParaRPr>
          </a:p>
          <a:p>
            <a:pPr marL="742950" lvl="1" indent="-285750">
              <a:buFont typeface="Arial"/>
              <a:buChar char="•"/>
            </a:pPr>
            <a:r>
              <a:rPr lang="en-US">
                <a:solidFill>
                  <a:schemeClr val="bg1"/>
                </a:solidFill>
                <a:ea typeface="+mn-lt"/>
                <a:cs typeface="+mn-lt"/>
              </a:rPr>
              <a:t>Recurrence</a:t>
            </a:r>
            <a:endParaRPr lang="en-US">
              <a:solidFill>
                <a:schemeClr val="bg1"/>
              </a:solidFill>
            </a:endParaRPr>
          </a:p>
          <a:p>
            <a:pPr algn="l"/>
            <a:endParaRPr lang="en-US" dirty="0">
              <a:solidFill>
                <a:schemeClr val="bg1"/>
              </a:solidFill>
            </a:endParaRPr>
          </a:p>
        </p:txBody>
      </p:sp>
      <p:sp>
        <p:nvSpPr>
          <p:cNvPr id="25" name="TextBox 24">
            <a:extLst>
              <a:ext uri="{FF2B5EF4-FFF2-40B4-BE49-F238E27FC236}">
                <a16:creationId xmlns:a16="http://schemas.microsoft.com/office/drawing/2014/main" id="{0A01812E-A06E-C22E-85E1-58C0742684E0}"/>
              </a:ext>
            </a:extLst>
          </p:cNvPr>
          <p:cNvSpPr txBox="1"/>
          <p:nvPr/>
        </p:nvSpPr>
        <p:spPr>
          <a:xfrm>
            <a:off x="730250" y="4127500"/>
            <a:ext cx="307975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rgbClr val="F4C430"/>
                </a:solidFill>
                <a:ea typeface="+mn-lt"/>
                <a:cs typeface="+mn-lt"/>
              </a:rPr>
              <a:t>Data Preparation</a:t>
            </a:r>
            <a:endParaRPr lang="en-US" b="1"/>
          </a:p>
        </p:txBody>
      </p:sp>
      <p:sp>
        <p:nvSpPr>
          <p:cNvPr id="2" name="TextBox 1">
            <a:extLst>
              <a:ext uri="{FF2B5EF4-FFF2-40B4-BE49-F238E27FC236}">
                <a16:creationId xmlns:a16="http://schemas.microsoft.com/office/drawing/2014/main" id="{A0692554-E70A-4B38-6269-C377A0350835}"/>
              </a:ext>
            </a:extLst>
          </p:cNvPr>
          <p:cNvSpPr txBox="1"/>
          <p:nvPr/>
        </p:nvSpPr>
        <p:spPr>
          <a:xfrm>
            <a:off x="1155700" y="4591050"/>
            <a:ext cx="897890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ea typeface="+mn-lt"/>
                <a:cs typeface="+mn-lt"/>
              </a:rPr>
              <a:t>The dataset underwent:</a:t>
            </a:r>
            <a:endParaRPr lang="en-US">
              <a:solidFill>
                <a:schemeClr val="bg1"/>
              </a:solidFill>
            </a:endParaRPr>
          </a:p>
          <a:p>
            <a:pPr marL="285750" indent="-285750">
              <a:buFont typeface="Arial"/>
              <a:buChar char="•"/>
            </a:pPr>
            <a:r>
              <a:rPr lang="en-US">
                <a:solidFill>
                  <a:schemeClr val="bg1"/>
                </a:solidFill>
                <a:ea typeface="+mn-lt"/>
                <a:cs typeface="+mn-lt"/>
              </a:rPr>
              <a:t>Data cleaning </a:t>
            </a:r>
            <a:endParaRPr lang="en-US">
              <a:solidFill>
                <a:schemeClr val="bg1"/>
              </a:solidFill>
            </a:endParaRPr>
          </a:p>
          <a:p>
            <a:pPr marL="285750" indent="-285750">
              <a:buFont typeface="Arial"/>
              <a:buChar char="•"/>
            </a:pPr>
            <a:r>
              <a:rPr lang="en-US">
                <a:solidFill>
                  <a:schemeClr val="bg1"/>
                </a:solidFill>
                <a:ea typeface="+mn-lt"/>
                <a:cs typeface="+mn-lt"/>
              </a:rPr>
              <a:t>Missing value handling </a:t>
            </a:r>
            <a:endParaRPr lang="en-US">
              <a:solidFill>
                <a:schemeClr val="bg1"/>
              </a:solidFill>
            </a:endParaRPr>
          </a:p>
          <a:p>
            <a:pPr marL="285750" indent="-285750">
              <a:buFont typeface="Arial"/>
              <a:buChar char="•"/>
            </a:pPr>
            <a:r>
              <a:rPr lang="en-US">
                <a:solidFill>
                  <a:schemeClr val="bg1"/>
                </a:solidFill>
                <a:ea typeface="+mn-lt"/>
                <a:cs typeface="+mn-lt"/>
              </a:rPr>
              <a:t>Standardization </a:t>
            </a:r>
            <a:endParaRPr lang="en-US">
              <a:solidFill>
                <a:schemeClr val="bg1"/>
              </a:solidFill>
            </a:endParaRPr>
          </a:p>
          <a:p>
            <a:pPr marL="285750" indent="-285750">
              <a:buFont typeface="Arial"/>
              <a:buChar char="•"/>
            </a:pPr>
            <a:r>
              <a:rPr lang="en-US">
                <a:solidFill>
                  <a:schemeClr val="bg1"/>
                </a:solidFill>
                <a:ea typeface="+mn-lt"/>
                <a:cs typeface="+mn-lt"/>
              </a:rPr>
              <a:t>Feature engineering </a:t>
            </a:r>
            <a:endParaRPr lang="en-US">
              <a:solidFill>
                <a:schemeClr val="bg1"/>
              </a:solidFill>
            </a:endParaRPr>
          </a:p>
          <a:p>
            <a:pPr marL="285750" indent="-285750">
              <a:buFont typeface="Arial"/>
              <a:buChar char="•"/>
            </a:pPr>
            <a:r>
              <a:rPr lang="en-US">
                <a:solidFill>
                  <a:schemeClr val="bg1"/>
                </a:solidFill>
                <a:ea typeface="+mn-lt"/>
                <a:cs typeface="+mn-lt"/>
              </a:rPr>
              <a:t>Relationship modelling </a:t>
            </a:r>
            <a:endParaRPr lang="en-US">
              <a:solidFill>
                <a:schemeClr val="bg1"/>
              </a:solidFill>
            </a:endParaRPr>
          </a:p>
          <a:p>
            <a:pPr marL="285750" indent="-285750">
              <a:buFont typeface="Arial"/>
              <a:buChar char="•"/>
            </a:pPr>
            <a:r>
              <a:rPr lang="en-US">
                <a:solidFill>
                  <a:schemeClr val="bg1"/>
                </a:solidFill>
                <a:ea typeface="+mn-lt"/>
                <a:cs typeface="+mn-lt"/>
              </a:rPr>
              <a:t>DAX measure creation</a:t>
            </a:r>
            <a:endParaRPr lang="en-US">
              <a:solidFill>
                <a:schemeClr val="bg1"/>
              </a:solidFill>
            </a:endParaRPr>
          </a:p>
          <a:p>
            <a:endParaRPr lang="en-US" dirty="0">
              <a:solidFill>
                <a:schemeClr val="bg1"/>
              </a:solidFill>
              <a:ea typeface="+mn-lt"/>
              <a:cs typeface="+mn-lt"/>
            </a:endParaRPr>
          </a:p>
        </p:txBody>
      </p:sp>
      <p:pic>
        <p:nvPicPr>
          <p:cNvPr id="4" name="Picture 3">
            <a:extLst>
              <a:ext uri="{FF2B5EF4-FFF2-40B4-BE49-F238E27FC236}">
                <a16:creationId xmlns:a16="http://schemas.microsoft.com/office/drawing/2014/main" id="{8682F313-2964-E812-1908-590A9FAD0C20}"/>
              </a:ext>
            </a:extLst>
          </p:cNvPr>
          <p:cNvPicPr>
            <a:picLocks noChangeAspect="1"/>
          </p:cNvPicPr>
          <p:nvPr/>
        </p:nvPicPr>
        <p:blipFill>
          <a:blip r:embed="rId3"/>
          <a:stretch>
            <a:fillRect/>
          </a:stretch>
        </p:blipFill>
        <p:spPr>
          <a:xfrm>
            <a:off x="6088063" y="1449388"/>
            <a:ext cx="5819775" cy="4810125"/>
          </a:xfrm>
          <a:prstGeom prst="rect">
            <a:avLst/>
          </a:prstGeom>
        </p:spPr>
      </p:pic>
    </p:spTree>
    <p:extLst>
      <p:ext uri="{BB962C8B-B14F-4D97-AF65-F5344CB8AC3E}">
        <p14:creationId xmlns:p14="http://schemas.microsoft.com/office/powerpoint/2010/main" val="1039621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52AB456-D197-7D40-4A12-A78EC1854BEA}"/>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56C3F277-110D-300B-B13B-45543821B184}"/>
              </a:ext>
            </a:extLst>
          </p:cNvPr>
          <p:cNvPicPr>
            <a:picLocks noChangeAspect="1"/>
          </p:cNvPicPr>
          <p:nvPr/>
        </p:nvPicPr>
        <p:blipFill>
          <a:blip r:embed="rId2"/>
          <a:srcRect r="-1190" b="-901"/>
          <a:stretch>
            <a:fillRect/>
          </a:stretch>
        </p:blipFill>
        <p:spPr>
          <a:xfrm flipH="1">
            <a:off x="3960019" y="83911"/>
            <a:ext cx="340519" cy="470929"/>
          </a:xfrm>
          <a:prstGeom prst="rect">
            <a:avLst/>
          </a:prstGeom>
        </p:spPr>
      </p:pic>
      <p:sp>
        <p:nvSpPr>
          <p:cNvPr id="18" name="TextBox 17">
            <a:extLst>
              <a:ext uri="{FF2B5EF4-FFF2-40B4-BE49-F238E27FC236}">
                <a16:creationId xmlns:a16="http://schemas.microsoft.com/office/drawing/2014/main" id="{B23ADDC9-16DE-E206-932B-4EA85DD3626E}"/>
              </a:ext>
            </a:extLst>
          </p:cNvPr>
          <p:cNvSpPr txBox="1"/>
          <p:nvPr/>
        </p:nvSpPr>
        <p:spPr>
          <a:xfrm flipH="1">
            <a:off x="2269066" y="-354995"/>
            <a:ext cx="7549848" cy="75716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9" name="TextBox 18">
            <a:extLst>
              <a:ext uri="{FF2B5EF4-FFF2-40B4-BE49-F238E27FC236}">
                <a16:creationId xmlns:a16="http://schemas.microsoft.com/office/drawing/2014/main" id="{69ED7906-CC57-A7F9-0398-A76F4999A138}"/>
              </a:ext>
            </a:extLst>
          </p:cNvPr>
          <p:cNvSpPr txBox="1"/>
          <p:nvPr/>
        </p:nvSpPr>
        <p:spPr>
          <a:xfrm>
            <a:off x="2082800" y="57150"/>
            <a:ext cx="67564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F4C430"/>
                </a:solidFill>
                <a:ea typeface="+mn-lt"/>
                <a:cs typeface="+mn-lt"/>
              </a:rPr>
              <a:t>                          Dashboard Overview</a:t>
            </a:r>
            <a:endParaRPr lang="en-US" b="1">
              <a:ea typeface="+mn-lt"/>
              <a:cs typeface="+mn-lt"/>
            </a:endParaRPr>
          </a:p>
        </p:txBody>
      </p:sp>
      <p:sp>
        <p:nvSpPr>
          <p:cNvPr id="3" name="TextBox 2">
            <a:extLst>
              <a:ext uri="{FF2B5EF4-FFF2-40B4-BE49-F238E27FC236}">
                <a16:creationId xmlns:a16="http://schemas.microsoft.com/office/drawing/2014/main" id="{11B99F88-FA37-C1E7-426B-FBC5149834D8}"/>
              </a:ext>
            </a:extLst>
          </p:cNvPr>
          <p:cNvSpPr txBox="1"/>
          <p:nvPr/>
        </p:nvSpPr>
        <p:spPr>
          <a:xfrm>
            <a:off x="241300" y="812800"/>
            <a:ext cx="6394450" cy="60631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rgbClr val="F4C430"/>
                </a:solidFill>
              </a:rPr>
              <a:t>Executive Summary</a:t>
            </a:r>
          </a:p>
          <a:p>
            <a:r>
              <a:rPr lang="en-US">
                <a:solidFill>
                  <a:schemeClr val="bg1"/>
                </a:solidFill>
                <a:ea typeface="+mn-lt"/>
                <a:cs typeface="+mn-lt"/>
              </a:rPr>
              <a:t>The dashboard provides a high-level overview of the clinical characteristics of </a:t>
            </a:r>
            <a:r>
              <a:rPr lang="en-US" b="1">
                <a:solidFill>
                  <a:schemeClr val="bg1"/>
                </a:solidFill>
                <a:ea typeface="+mn-lt"/>
                <a:cs typeface="+mn-lt"/>
              </a:rPr>
              <a:t>51 Soft Tissue Sarcoma patients</a:t>
            </a:r>
            <a:r>
              <a:rPr lang="en-US">
                <a:solidFill>
                  <a:schemeClr val="bg1"/>
                </a:solidFill>
                <a:ea typeface="+mn-lt"/>
                <a:cs typeface="+mn-lt"/>
              </a:rPr>
              <a:t>, highlighting patient demographics, disease burden, tumor classification, and clinical outcomes.</a:t>
            </a:r>
            <a:br>
              <a:rPr lang="en-US" dirty="0">
                <a:solidFill>
                  <a:schemeClr val="bg1"/>
                </a:solidFill>
                <a:ea typeface="+mn-lt"/>
                <a:cs typeface="+mn-lt"/>
              </a:rPr>
            </a:br>
            <a:endParaRPr lang="en-US">
              <a:solidFill>
                <a:schemeClr val="bg1"/>
              </a:solidFill>
            </a:endParaRPr>
          </a:p>
          <a:p>
            <a:r>
              <a:rPr lang="en-US" sz="2000" b="1">
                <a:solidFill>
                  <a:srgbClr val="F4C430"/>
                </a:solidFill>
              </a:rPr>
              <a:t>Key Highlights</a:t>
            </a:r>
            <a:br>
              <a:rPr lang="en-US" sz="2000" b="1" dirty="0">
                <a:solidFill>
                  <a:srgbClr val="F4C430"/>
                </a:solidFill>
              </a:rPr>
            </a:br>
            <a:endParaRPr lang="en-US" sz="2000" b="1" dirty="0">
              <a:solidFill>
                <a:srgbClr val="F4C430"/>
              </a:solidFill>
            </a:endParaRPr>
          </a:p>
          <a:p>
            <a:pPr marL="285750" indent="-285750">
              <a:buFont typeface="Arial"/>
              <a:buChar char="•"/>
            </a:pPr>
            <a:r>
              <a:rPr lang="en-US" b="1">
                <a:solidFill>
                  <a:schemeClr val="bg1"/>
                </a:solidFill>
                <a:ea typeface="+mn-lt"/>
                <a:cs typeface="+mn-lt"/>
              </a:rPr>
              <a:t>51 patients</a:t>
            </a:r>
            <a:r>
              <a:rPr lang="en-US">
                <a:solidFill>
                  <a:schemeClr val="bg1"/>
                </a:solidFill>
                <a:ea typeface="+mn-lt"/>
                <a:cs typeface="+mn-lt"/>
              </a:rPr>
              <a:t> were included in the analysis. </a:t>
            </a:r>
            <a:endParaRPr lang="en-US">
              <a:solidFill>
                <a:schemeClr val="bg1"/>
              </a:solidFill>
            </a:endParaRPr>
          </a:p>
          <a:p>
            <a:pPr marL="285750" indent="-285750">
              <a:buFont typeface="Arial"/>
              <a:buChar char="•"/>
            </a:pPr>
            <a:r>
              <a:rPr lang="en-US">
                <a:solidFill>
                  <a:schemeClr val="bg1"/>
                </a:solidFill>
                <a:ea typeface="+mn-lt"/>
                <a:cs typeface="+mn-lt"/>
              </a:rPr>
              <a:t>The </a:t>
            </a:r>
            <a:r>
              <a:rPr lang="en-US" b="1">
                <a:solidFill>
                  <a:schemeClr val="bg1"/>
                </a:solidFill>
                <a:ea typeface="+mn-lt"/>
                <a:cs typeface="+mn-lt"/>
              </a:rPr>
              <a:t>average patient age was 54.8 years</a:t>
            </a:r>
            <a:r>
              <a:rPr lang="en-US">
                <a:solidFill>
                  <a:schemeClr val="bg1"/>
                </a:solidFill>
                <a:ea typeface="+mn-lt"/>
                <a:cs typeface="+mn-lt"/>
              </a:rPr>
              <a:t>, with </a:t>
            </a:r>
            <a:r>
              <a:rPr lang="en-US" b="1">
                <a:solidFill>
                  <a:schemeClr val="bg1"/>
                </a:solidFill>
                <a:ea typeface="+mn-lt"/>
                <a:cs typeface="+mn-lt"/>
              </a:rPr>
              <a:t>Older Adults</a:t>
            </a:r>
            <a:r>
              <a:rPr lang="en-US" dirty="0">
                <a:solidFill>
                  <a:schemeClr val="bg1"/>
                </a:solidFill>
                <a:ea typeface="+mn-lt"/>
                <a:cs typeface="+mn-lt"/>
              </a:rPr>
              <a:t> </a:t>
            </a:r>
            <a:r>
              <a:rPr lang="en-US">
                <a:solidFill>
                  <a:schemeClr val="bg1"/>
                </a:solidFill>
                <a:ea typeface="+mn-lt"/>
                <a:cs typeface="+mn-lt"/>
              </a:rPr>
              <a:t>representing the largest age group. </a:t>
            </a:r>
            <a:endParaRPr lang="en-US">
              <a:solidFill>
                <a:schemeClr val="bg1"/>
              </a:solidFill>
            </a:endParaRPr>
          </a:p>
          <a:p>
            <a:pPr marL="285750" indent="-285750">
              <a:buFont typeface="Arial"/>
              <a:buChar char="•"/>
            </a:pPr>
            <a:r>
              <a:rPr lang="en-US" b="1">
                <a:solidFill>
                  <a:schemeClr val="bg1"/>
                </a:solidFill>
                <a:ea typeface="+mn-lt"/>
                <a:cs typeface="+mn-lt"/>
              </a:rPr>
              <a:t>19 patients developed lung metastasis</a:t>
            </a:r>
            <a:r>
              <a:rPr lang="en-US">
                <a:solidFill>
                  <a:schemeClr val="bg1"/>
                </a:solidFill>
                <a:ea typeface="+mn-lt"/>
                <a:cs typeface="+mn-lt"/>
              </a:rPr>
              <a:t>, indicating a substantial metastatic burden. </a:t>
            </a:r>
            <a:endParaRPr lang="en-US" dirty="0">
              <a:solidFill>
                <a:schemeClr val="bg1"/>
              </a:solidFill>
              <a:ea typeface="+mn-lt"/>
              <a:cs typeface="+mn-lt"/>
            </a:endParaRPr>
          </a:p>
          <a:p>
            <a:pPr marL="285750" indent="-285750">
              <a:buFont typeface="Arial"/>
              <a:buChar char="•"/>
            </a:pPr>
            <a:r>
              <a:rPr lang="en-US" b="1">
                <a:solidFill>
                  <a:schemeClr val="bg1"/>
                </a:solidFill>
                <a:ea typeface="+mn-lt"/>
                <a:cs typeface="+mn-lt"/>
              </a:rPr>
              <a:t>15 deaths</a:t>
            </a:r>
            <a:r>
              <a:rPr lang="en-US">
                <a:solidFill>
                  <a:schemeClr val="bg1"/>
                </a:solidFill>
                <a:ea typeface="+mn-lt"/>
                <a:cs typeface="+mn-lt"/>
              </a:rPr>
              <a:t> were recorded during the follow-up period. </a:t>
            </a:r>
            <a:endParaRPr lang="en-US">
              <a:solidFill>
                <a:schemeClr val="bg1"/>
              </a:solidFill>
            </a:endParaRPr>
          </a:p>
          <a:p>
            <a:pPr marL="285750" indent="-285750">
              <a:buFont typeface="Arial"/>
              <a:buChar char="•"/>
            </a:pPr>
            <a:r>
              <a:rPr lang="en-US" b="1">
                <a:solidFill>
                  <a:schemeClr val="bg1"/>
                </a:solidFill>
                <a:ea typeface="+mn-lt"/>
                <a:cs typeface="+mn-lt"/>
              </a:rPr>
              <a:t>Liposarcoma</a:t>
            </a:r>
            <a:r>
              <a:rPr lang="en-US">
                <a:solidFill>
                  <a:schemeClr val="bg1"/>
                </a:solidFill>
                <a:ea typeface="+mn-lt"/>
                <a:cs typeface="+mn-lt"/>
              </a:rPr>
              <a:t> was the most frequently diagnosed sarcoma family. </a:t>
            </a:r>
            <a:endParaRPr lang="en-US">
              <a:solidFill>
                <a:schemeClr val="bg1"/>
              </a:solidFill>
            </a:endParaRPr>
          </a:p>
          <a:p>
            <a:pPr marL="285750" indent="-285750">
              <a:buFont typeface="Arial"/>
              <a:buChar char="•"/>
            </a:pPr>
            <a:r>
              <a:rPr lang="en-US" b="1">
                <a:solidFill>
                  <a:schemeClr val="bg1"/>
                </a:solidFill>
                <a:ea typeface="+mn-lt"/>
                <a:cs typeface="+mn-lt"/>
              </a:rPr>
              <a:t>High-grade tumors</a:t>
            </a:r>
            <a:r>
              <a:rPr lang="en-US" dirty="0">
                <a:solidFill>
                  <a:schemeClr val="bg1"/>
                </a:solidFill>
                <a:ea typeface="+mn-lt"/>
                <a:cs typeface="+mn-lt"/>
              </a:rPr>
              <a:t> </a:t>
            </a:r>
            <a:r>
              <a:rPr lang="en-US">
                <a:solidFill>
                  <a:schemeClr val="bg1"/>
                </a:solidFill>
                <a:ea typeface="+mn-lt"/>
                <a:cs typeface="+mn-lt"/>
              </a:rPr>
              <a:t>accounted for the largest proportion of cases. </a:t>
            </a:r>
            <a:endParaRPr lang="en-US" dirty="0">
              <a:solidFill>
                <a:schemeClr val="bg1"/>
              </a:solidFill>
              <a:ea typeface="+mn-lt"/>
              <a:cs typeface="+mn-lt"/>
            </a:endParaRPr>
          </a:p>
          <a:p>
            <a:pPr marL="285750" indent="-285750">
              <a:buFont typeface="Arial"/>
              <a:buChar char="•"/>
            </a:pPr>
            <a:r>
              <a:rPr lang="en-US">
                <a:solidFill>
                  <a:schemeClr val="bg1"/>
                </a:solidFill>
                <a:ea typeface="+mn-lt"/>
                <a:cs typeface="+mn-lt"/>
              </a:rPr>
              <a:t>Clinical outcomes were predominantly </a:t>
            </a:r>
            <a:r>
              <a:rPr lang="en-US" b="1">
                <a:solidFill>
                  <a:schemeClr val="bg1"/>
                </a:solidFill>
                <a:ea typeface="+mn-lt"/>
                <a:cs typeface="+mn-lt"/>
              </a:rPr>
              <a:t>No Event</a:t>
            </a:r>
            <a:r>
              <a:rPr lang="en-US" dirty="0">
                <a:solidFill>
                  <a:schemeClr val="bg1"/>
                </a:solidFill>
                <a:ea typeface="+mn-lt"/>
                <a:cs typeface="+mn-lt"/>
              </a:rPr>
              <a:t> </a:t>
            </a:r>
            <a:r>
              <a:rPr lang="en-US">
                <a:solidFill>
                  <a:schemeClr val="bg1"/>
                </a:solidFill>
                <a:ea typeface="+mn-lt"/>
                <a:cs typeface="+mn-lt"/>
              </a:rPr>
              <a:t>and </a:t>
            </a:r>
            <a:r>
              <a:rPr lang="en-US" b="1">
                <a:solidFill>
                  <a:schemeClr val="bg1"/>
                </a:solidFill>
                <a:ea typeface="+mn-lt"/>
                <a:cs typeface="+mn-lt"/>
              </a:rPr>
              <a:t>Metastasis</a:t>
            </a:r>
            <a:r>
              <a:rPr lang="en-US">
                <a:solidFill>
                  <a:schemeClr val="bg1"/>
                </a:solidFill>
                <a:ea typeface="+mn-lt"/>
                <a:cs typeface="+mn-lt"/>
              </a:rPr>
              <a:t>, while </a:t>
            </a:r>
            <a:r>
              <a:rPr lang="en-US" b="1">
                <a:solidFill>
                  <a:schemeClr val="bg1"/>
                </a:solidFill>
                <a:ea typeface="+mn-lt"/>
                <a:cs typeface="+mn-lt"/>
              </a:rPr>
              <a:t>Recurrence</a:t>
            </a:r>
            <a:r>
              <a:rPr lang="en-US" dirty="0">
                <a:solidFill>
                  <a:schemeClr val="bg1"/>
                </a:solidFill>
                <a:ea typeface="+mn-lt"/>
                <a:cs typeface="+mn-lt"/>
              </a:rPr>
              <a:t> </a:t>
            </a:r>
            <a:r>
              <a:rPr lang="en-US">
                <a:solidFill>
                  <a:schemeClr val="bg1"/>
                </a:solidFill>
                <a:ea typeface="+mn-lt"/>
                <a:cs typeface="+mn-lt"/>
              </a:rPr>
              <a:t>was relatively uncommon.</a:t>
            </a:r>
            <a:endParaRPr lang="en-US">
              <a:solidFill>
                <a:schemeClr val="bg1"/>
              </a:solidFill>
            </a:endParaRPr>
          </a:p>
          <a:p>
            <a:endParaRPr lang="en-US" b="1" dirty="0">
              <a:solidFill>
                <a:schemeClr val="bg1"/>
              </a:solidFill>
            </a:endParaRPr>
          </a:p>
        </p:txBody>
      </p:sp>
      <p:pic>
        <p:nvPicPr>
          <p:cNvPr id="2" name="Picture 1">
            <a:extLst>
              <a:ext uri="{FF2B5EF4-FFF2-40B4-BE49-F238E27FC236}">
                <a16:creationId xmlns:a16="http://schemas.microsoft.com/office/drawing/2014/main" id="{40FBB7A8-D4D1-B203-2390-D42C08ADE3FB}"/>
              </a:ext>
            </a:extLst>
          </p:cNvPr>
          <p:cNvPicPr>
            <a:picLocks noChangeAspect="1"/>
          </p:cNvPicPr>
          <p:nvPr/>
        </p:nvPicPr>
        <p:blipFill>
          <a:blip r:embed="rId3"/>
          <a:stretch>
            <a:fillRect/>
          </a:stretch>
        </p:blipFill>
        <p:spPr>
          <a:xfrm>
            <a:off x="7153729" y="1361068"/>
            <a:ext cx="5038271" cy="5504742"/>
          </a:xfrm>
          <a:prstGeom prst="rect">
            <a:avLst/>
          </a:prstGeom>
        </p:spPr>
      </p:pic>
    </p:spTree>
    <p:extLst>
      <p:ext uri="{BB962C8B-B14F-4D97-AF65-F5344CB8AC3E}">
        <p14:creationId xmlns:p14="http://schemas.microsoft.com/office/powerpoint/2010/main" val="2490561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57CDCCF-A91D-9808-961D-3F59CE4A3308}"/>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AC4B58B9-6C49-A93D-7F6F-2BDD0D384DC2}"/>
              </a:ext>
            </a:extLst>
          </p:cNvPr>
          <p:cNvPicPr>
            <a:picLocks noChangeAspect="1"/>
          </p:cNvPicPr>
          <p:nvPr/>
        </p:nvPicPr>
        <p:blipFill>
          <a:blip r:embed="rId2"/>
          <a:srcRect r="-1190" b="-901"/>
          <a:stretch>
            <a:fillRect/>
          </a:stretch>
        </p:blipFill>
        <p:spPr>
          <a:xfrm flipH="1">
            <a:off x="3045619" y="763361"/>
            <a:ext cx="277019" cy="413779"/>
          </a:xfrm>
          <a:prstGeom prst="rect">
            <a:avLst/>
          </a:prstGeom>
        </p:spPr>
      </p:pic>
      <p:sp>
        <p:nvSpPr>
          <p:cNvPr id="18" name="TextBox 17">
            <a:extLst>
              <a:ext uri="{FF2B5EF4-FFF2-40B4-BE49-F238E27FC236}">
                <a16:creationId xmlns:a16="http://schemas.microsoft.com/office/drawing/2014/main" id="{1A77DAF7-161E-033B-8905-0BB6854E5F88}"/>
              </a:ext>
            </a:extLst>
          </p:cNvPr>
          <p:cNvSpPr txBox="1"/>
          <p:nvPr/>
        </p:nvSpPr>
        <p:spPr>
          <a:xfrm flipH="1">
            <a:off x="2269066" y="-354995"/>
            <a:ext cx="7549848" cy="75716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9" name="TextBox 18">
            <a:extLst>
              <a:ext uri="{FF2B5EF4-FFF2-40B4-BE49-F238E27FC236}">
                <a16:creationId xmlns:a16="http://schemas.microsoft.com/office/drawing/2014/main" id="{4F4AB8BA-6C47-F027-CB05-D1F0D6AF8881}"/>
              </a:ext>
            </a:extLst>
          </p:cNvPr>
          <p:cNvSpPr txBox="1"/>
          <p:nvPr/>
        </p:nvSpPr>
        <p:spPr>
          <a:xfrm>
            <a:off x="2768600" y="673100"/>
            <a:ext cx="6553200" cy="5911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F4C430"/>
                </a:solidFill>
                <a:ea typeface="+mn-lt"/>
                <a:cs typeface="+mn-lt"/>
              </a:rPr>
              <a:t>     Metastasis &amp; Clinical Outcomes</a:t>
            </a:r>
            <a:endParaRPr lang="en-US" b="1"/>
          </a:p>
        </p:txBody>
      </p:sp>
      <p:sp>
        <p:nvSpPr>
          <p:cNvPr id="3" name="TextBox 2">
            <a:extLst>
              <a:ext uri="{FF2B5EF4-FFF2-40B4-BE49-F238E27FC236}">
                <a16:creationId xmlns:a16="http://schemas.microsoft.com/office/drawing/2014/main" id="{47856796-36A8-70BE-5121-846BA74927FB}"/>
              </a:ext>
            </a:extLst>
          </p:cNvPr>
          <p:cNvSpPr txBox="1"/>
          <p:nvPr/>
        </p:nvSpPr>
        <p:spPr>
          <a:xfrm>
            <a:off x="82550" y="1714500"/>
            <a:ext cx="6800850" cy="48628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bg1"/>
                </a:solidFill>
              </a:rPr>
              <a:t>         </a:t>
            </a:r>
            <a:br>
              <a:rPr lang="en-US" b="1" dirty="0">
                <a:solidFill>
                  <a:schemeClr val="bg1"/>
                </a:solidFill>
              </a:rPr>
            </a:br>
            <a:br>
              <a:rPr lang="en-US" b="1" dirty="0">
                <a:solidFill>
                  <a:schemeClr val="bg1"/>
                </a:solidFill>
              </a:rPr>
            </a:br>
            <a:r>
              <a:rPr lang="en-US" sz="2400" b="1" dirty="0">
                <a:solidFill>
                  <a:schemeClr val="bg1"/>
                </a:solidFill>
              </a:rPr>
              <a:t> </a:t>
            </a:r>
            <a:r>
              <a:rPr lang="en-US" sz="2400" b="1">
                <a:solidFill>
                  <a:srgbClr val="F4C430"/>
                </a:solidFill>
              </a:rPr>
              <a:t>Key Findings :</a:t>
            </a:r>
            <a:br>
              <a:rPr lang="en-US" sz="2400" b="1" dirty="0">
                <a:solidFill>
                  <a:schemeClr val="bg1"/>
                </a:solidFill>
              </a:rPr>
            </a:br>
            <a:br>
              <a:rPr lang="en-US" sz="2400" b="1" dirty="0">
                <a:solidFill>
                  <a:schemeClr val="bg1"/>
                </a:solidFill>
              </a:rPr>
            </a:br>
            <a:endParaRPr lang="en-US">
              <a:solidFill>
                <a:schemeClr val="bg1"/>
              </a:solidFill>
            </a:endParaRPr>
          </a:p>
          <a:p>
            <a:pPr>
              <a:buFont typeface="Arial"/>
              <a:buChar char="•"/>
            </a:pPr>
            <a:r>
              <a:rPr lang="en-US" b="1">
                <a:solidFill>
                  <a:schemeClr val="bg1"/>
                </a:solidFill>
                <a:ea typeface="+mn-lt"/>
                <a:cs typeface="+mn-lt"/>
              </a:rPr>
              <a:t> 19 </a:t>
            </a:r>
            <a:r>
              <a:rPr lang="en-US">
                <a:solidFill>
                  <a:schemeClr val="bg1"/>
                </a:solidFill>
                <a:ea typeface="+mn-lt"/>
                <a:cs typeface="+mn-lt"/>
              </a:rPr>
              <a:t>patients developed lung metastasis, making it the most common metastatic event. </a:t>
            </a:r>
            <a:endParaRPr lang="en-US" dirty="0">
              <a:solidFill>
                <a:schemeClr val="bg1"/>
              </a:solidFill>
              <a:ea typeface="+mn-lt"/>
              <a:cs typeface="+mn-lt"/>
            </a:endParaRPr>
          </a:p>
          <a:p>
            <a:pPr>
              <a:buFont typeface="Arial"/>
              <a:buChar char="•"/>
            </a:pPr>
            <a:r>
              <a:rPr lang="en-US">
                <a:solidFill>
                  <a:schemeClr val="bg1"/>
                </a:solidFill>
                <a:ea typeface="+mn-lt"/>
                <a:cs typeface="+mn-lt"/>
              </a:rPr>
              <a:t> Recurrence was uncommon, with only 3 recorded cases. </a:t>
            </a:r>
            <a:endParaRPr lang="en-US" dirty="0">
              <a:solidFill>
                <a:schemeClr val="bg1"/>
              </a:solidFill>
              <a:ea typeface="+mn-lt"/>
              <a:cs typeface="+mn-lt"/>
            </a:endParaRPr>
          </a:p>
          <a:p>
            <a:pPr>
              <a:buFont typeface="Arial"/>
              <a:buChar char="•"/>
            </a:pPr>
            <a:r>
              <a:rPr lang="en-US">
                <a:solidFill>
                  <a:schemeClr val="bg1"/>
                </a:solidFill>
                <a:ea typeface="+mn-lt"/>
                <a:cs typeface="+mn-lt"/>
              </a:rPr>
              <a:t> Most patients achieved No Evidence of Disease (NED) following treatment. </a:t>
            </a:r>
            <a:endParaRPr lang="en-US" dirty="0">
              <a:solidFill>
                <a:schemeClr val="bg1"/>
              </a:solidFill>
              <a:ea typeface="+mn-lt"/>
              <a:cs typeface="+mn-lt"/>
            </a:endParaRPr>
          </a:p>
          <a:p>
            <a:pPr>
              <a:buFont typeface="Arial"/>
              <a:buChar char="•"/>
            </a:pPr>
            <a:r>
              <a:rPr lang="en-US">
                <a:solidFill>
                  <a:schemeClr val="bg1"/>
                </a:solidFill>
                <a:ea typeface="+mn-lt"/>
                <a:cs typeface="+mn-lt"/>
              </a:rPr>
              <a:t> Time to outcome differed across sarcoma families, suggesting variation in disease progression and prognosis. </a:t>
            </a:r>
            <a:endParaRPr lang="en-US" dirty="0">
              <a:solidFill>
                <a:schemeClr val="bg1"/>
              </a:solidFill>
              <a:ea typeface="+mn-lt"/>
              <a:cs typeface="+mn-lt"/>
            </a:endParaRPr>
          </a:p>
          <a:p>
            <a:pPr>
              <a:buFont typeface="Arial"/>
              <a:buChar char="•"/>
            </a:pPr>
            <a:r>
              <a:rPr lang="en-US">
                <a:solidFill>
                  <a:schemeClr val="bg1"/>
                </a:solidFill>
                <a:ea typeface="+mn-lt"/>
                <a:cs typeface="+mn-lt"/>
              </a:rPr>
              <a:t> Primary tumor sites were concentrated in the lower limbs, particularly the thigh region.</a:t>
            </a:r>
            <a:endParaRPr lang="en-US">
              <a:solidFill>
                <a:schemeClr val="bg1"/>
              </a:solidFill>
            </a:endParaRPr>
          </a:p>
          <a:p>
            <a:pPr marL="285750" indent="-285750">
              <a:buFont typeface="Arial"/>
              <a:buChar char="•"/>
            </a:pPr>
            <a:endParaRPr lang="en-US" sz="2200" dirty="0">
              <a:solidFill>
                <a:schemeClr val="bg1"/>
              </a:solidFill>
            </a:endParaRPr>
          </a:p>
          <a:p>
            <a:endParaRPr lang="en-US" sz="2400" b="1" dirty="0">
              <a:solidFill>
                <a:schemeClr val="bg1"/>
              </a:solidFill>
            </a:endParaRPr>
          </a:p>
        </p:txBody>
      </p:sp>
      <p:pic>
        <p:nvPicPr>
          <p:cNvPr id="2" name="Picture 1">
            <a:extLst>
              <a:ext uri="{FF2B5EF4-FFF2-40B4-BE49-F238E27FC236}">
                <a16:creationId xmlns:a16="http://schemas.microsoft.com/office/drawing/2014/main" id="{49BF45DB-F64E-B027-8ADC-D1DC14A90C93}"/>
              </a:ext>
            </a:extLst>
          </p:cNvPr>
          <p:cNvPicPr>
            <a:picLocks noChangeAspect="1"/>
          </p:cNvPicPr>
          <p:nvPr/>
        </p:nvPicPr>
        <p:blipFill>
          <a:blip r:embed="rId3"/>
          <a:stretch>
            <a:fillRect/>
          </a:stretch>
        </p:blipFill>
        <p:spPr>
          <a:xfrm>
            <a:off x="6923314" y="2093125"/>
            <a:ext cx="5196115" cy="4522321"/>
          </a:xfrm>
          <a:prstGeom prst="rect">
            <a:avLst/>
          </a:prstGeom>
        </p:spPr>
      </p:pic>
    </p:spTree>
    <p:extLst>
      <p:ext uri="{BB962C8B-B14F-4D97-AF65-F5344CB8AC3E}">
        <p14:creationId xmlns:p14="http://schemas.microsoft.com/office/powerpoint/2010/main" val="39036537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61BDF9B-EB3C-3AAC-6DA2-C4EC7DA3D4DD}"/>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3FA8C831-C36A-9021-F356-E274379B8CFC}"/>
              </a:ext>
            </a:extLst>
          </p:cNvPr>
          <p:cNvPicPr>
            <a:picLocks noChangeAspect="1"/>
          </p:cNvPicPr>
          <p:nvPr/>
        </p:nvPicPr>
        <p:blipFill>
          <a:blip r:embed="rId2"/>
          <a:srcRect r="-1190" b="-901"/>
          <a:stretch>
            <a:fillRect/>
          </a:stretch>
        </p:blipFill>
        <p:spPr>
          <a:xfrm flipH="1">
            <a:off x="2912269" y="769711"/>
            <a:ext cx="270669" cy="369329"/>
          </a:xfrm>
          <a:prstGeom prst="rect">
            <a:avLst/>
          </a:prstGeom>
        </p:spPr>
      </p:pic>
      <p:sp>
        <p:nvSpPr>
          <p:cNvPr id="18" name="TextBox 17">
            <a:extLst>
              <a:ext uri="{FF2B5EF4-FFF2-40B4-BE49-F238E27FC236}">
                <a16:creationId xmlns:a16="http://schemas.microsoft.com/office/drawing/2014/main" id="{10D82D8D-362E-BD5C-6D21-A22BEB25E15E}"/>
              </a:ext>
            </a:extLst>
          </p:cNvPr>
          <p:cNvSpPr txBox="1"/>
          <p:nvPr/>
        </p:nvSpPr>
        <p:spPr>
          <a:xfrm flipH="1">
            <a:off x="2269066" y="-354995"/>
            <a:ext cx="7549848" cy="75716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9" name="TextBox 18">
            <a:extLst>
              <a:ext uri="{FF2B5EF4-FFF2-40B4-BE49-F238E27FC236}">
                <a16:creationId xmlns:a16="http://schemas.microsoft.com/office/drawing/2014/main" id="{DE742632-DD89-C17F-BA54-BC951241C1F1}"/>
              </a:ext>
            </a:extLst>
          </p:cNvPr>
          <p:cNvSpPr txBox="1"/>
          <p:nvPr/>
        </p:nvSpPr>
        <p:spPr>
          <a:xfrm>
            <a:off x="2711450" y="660400"/>
            <a:ext cx="65532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solidFill>
                  <a:srgbClr val="F4C430"/>
                </a:solidFill>
                <a:ea typeface="+mn-lt"/>
                <a:cs typeface="+mn-lt"/>
              </a:rPr>
              <a:t>     Treatment </a:t>
            </a:r>
            <a:r>
              <a:rPr lang="en-US" sz="3200" b="1">
                <a:solidFill>
                  <a:srgbClr val="F4C430"/>
                </a:solidFill>
                <a:ea typeface="+mn-lt"/>
                <a:cs typeface="+mn-lt"/>
              </a:rPr>
              <a:t>Patterns</a:t>
            </a:r>
            <a:endParaRPr lang="en-US" sz="3200" b="1" dirty="0">
              <a:solidFill>
                <a:srgbClr val="F4C430"/>
              </a:solidFill>
              <a:ea typeface="+mn-lt"/>
              <a:cs typeface="+mn-lt"/>
            </a:endParaRPr>
          </a:p>
        </p:txBody>
      </p:sp>
      <p:sp>
        <p:nvSpPr>
          <p:cNvPr id="3" name="TextBox 2">
            <a:extLst>
              <a:ext uri="{FF2B5EF4-FFF2-40B4-BE49-F238E27FC236}">
                <a16:creationId xmlns:a16="http://schemas.microsoft.com/office/drawing/2014/main" id="{B86DD0B4-E4D0-EF41-1AC5-01ED20CF9A94}"/>
              </a:ext>
            </a:extLst>
          </p:cNvPr>
          <p:cNvSpPr txBox="1"/>
          <p:nvPr/>
        </p:nvSpPr>
        <p:spPr>
          <a:xfrm>
            <a:off x="252952" y="1242663"/>
            <a:ext cx="6070600" cy="48936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bg1"/>
                </a:solidFill>
              </a:rPr>
              <a:t>         </a:t>
            </a:r>
            <a:br>
              <a:rPr lang="en-US" b="1" dirty="0">
                <a:solidFill>
                  <a:schemeClr val="bg1"/>
                </a:solidFill>
              </a:rPr>
            </a:br>
            <a:br>
              <a:rPr lang="en-US" b="1" dirty="0">
                <a:solidFill>
                  <a:schemeClr val="bg1"/>
                </a:solidFill>
              </a:rPr>
            </a:br>
            <a:r>
              <a:rPr lang="en-US" sz="2400" b="1">
                <a:solidFill>
                  <a:srgbClr val="F4C430"/>
                </a:solidFill>
              </a:rPr>
              <a:t> Insight : </a:t>
            </a:r>
            <a:br>
              <a:rPr lang="en-US" sz="2400" b="1" dirty="0">
                <a:solidFill>
                  <a:schemeClr val="bg1"/>
                </a:solidFill>
              </a:rPr>
            </a:br>
            <a:br>
              <a:rPr lang="en-US" sz="2400" b="1" dirty="0">
                <a:solidFill>
                  <a:schemeClr val="bg1"/>
                </a:solidFill>
              </a:rPr>
            </a:br>
            <a:r>
              <a:rPr lang="en-US" sz="2400" dirty="0">
                <a:solidFill>
                  <a:schemeClr val="bg1"/>
                </a:solidFill>
              </a:rPr>
              <a:t> </a:t>
            </a:r>
            <a:r>
              <a:rPr lang="en-US" sz="2000" dirty="0">
                <a:solidFill>
                  <a:schemeClr val="bg1"/>
                </a:solidFill>
                <a:ea typeface="+mn-lt"/>
                <a:cs typeface="+mn-lt"/>
              </a:rPr>
              <a:t>The dashboard compares:</a:t>
            </a:r>
          </a:p>
          <a:p>
            <a:pPr marL="285750" indent="-285750">
              <a:buFont typeface="Arial"/>
              <a:buChar char="•"/>
            </a:pPr>
            <a:r>
              <a:rPr lang="en-US" sz="2000">
                <a:solidFill>
                  <a:schemeClr val="bg1"/>
                </a:solidFill>
                <a:ea typeface="+mn-lt"/>
                <a:cs typeface="+mn-lt"/>
              </a:rPr>
              <a:t>Histological subtypes </a:t>
            </a:r>
            <a:endParaRPr lang="en-US" sz="2000">
              <a:solidFill>
                <a:schemeClr val="bg1"/>
              </a:solidFill>
            </a:endParaRPr>
          </a:p>
          <a:p>
            <a:pPr marL="285750" indent="-285750">
              <a:buFont typeface="Arial"/>
              <a:buChar char="•"/>
            </a:pPr>
            <a:r>
              <a:rPr lang="en-US" sz="2000">
                <a:solidFill>
                  <a:schemeClr val="bg1"/>
                </a:solidFill>
                <a:ea typeface="+mn-lt"/>
                <a:cs typeface="+mn-lt"/>
              </a:rPr>
              <a:t>Treatment distribution </a:t>
            </a:r>
            <a:endParaRPr lang="en-US" sz="2000">
              <a:solidFill>
                <a:schemeClr val="bg1"/>
              </a:solidFill>
            </a:endParaRPr>
          </a:p>
          <a:p>
            <a:pPr marL="285750" indent="-285750">
              <a:buFont typeface="Arial"/>
              <a:buChar char="•"/>
            </a:pPr>
            <a:r>
              <a:rPr lang="en-US" sz="2000">
                <a:solidFill>
                  <a:schemeClr val="bg1"/>
                </a:solidFill>
                <a:ea typeface="+mn-lt"/>
                <a:cs typeface="+mn-lt"/>
              </a:rPr>
              <a:t>Clinical outcomes by treatment </a:t>
            </a:r>
            <a:endParaRPr lang="en-US" sz="2000" dirty="0">
              <a:solidFill>
                <a:schemeClr val="bg1"/>
              </a:solidFill>
              <a:ea typeface="+mn-lt"/>
              <a:cs typeface="+mn-lt"/>
            </a:endParaRPr>
          </a:p>
          <a:p>
            <a:pPr marL="285750" indent="-285750">
              <a:buFont typeface="Arial"/>
              <a:buChar char="•"/>
            </a:pPr>
            <a:r>
              <a:rPr lang="en-US" sz="2000">
                <a:solidFill>
                  <a:schemeClr val="bg1"/>
                </a:solidFill>
                <a:ea typeface="+mn-lt"/>
                <a:cs typeface="+mn-lt"/>
              </a:rPr>
              <a:t>Average follow-up duration</a:t>
            </a:r>
            <a:r>
              <a:rPr lang="en-US" sz="2400">
                <a:solidFill>
                  <a:schemeClr val="bg1"/>
                </a:solidFill>
                <a:ea typeface="+mn-lt"/>
                <a:cs typeface="+mn-lt"/>
              </a:rPr>
              <a:t> </a:t>
            </a:r>
            <a:br>
              <a:rPr lang="en-US" sz="2400" dirty="0">
                <a:solidFill>
                  <a:schemeClr val="bg1"/>
                </a:solidFill>
                <a:ea typeface="+mn-lt"/>
                <a:cs typeface="+mn-lt"/>
              </a:rPr>
            </a:br>
            <a:endParaRPr lang="en-US">
              <a:solidFill>
                <a:schemeClr val="bg1"/>
              </a:solidFill>
            </a:endParaRPr>
          </a:p>
          <a:p>
            <a:r>
              <a:rPr lang="en-US" sz="2400" b="1">
                <a:solidFill>
                  <a:srgbClr val="F4C430"/>
                </a:solidFill>
              </a:rPr>
              <a:t>Observation :</a:t>
            </a:r>
            <a:br>
              <a:rPr lang="en-US" dirty="0">
                <a:solidFill>
                  <a:schemeClr val="bg1"/>
                </a:solidFill>
              </a:rPr>
            </a:br>
            <a:endParaRPr lang="en-US" dirty="0">
              <a:solidFill>
                <a:schemeClr val="bg1"/>
              </a:solidFill>
            </a:endParaRPr>
          </a:p>
          <a:p>
            <a:r>
              <a:rPr lang="en-US" sz="2000">
                <a:solidFill>
                  <a:schemeClr val="bg1"/>
                </a:solidFill>
                <a:ea typeface="+mn-lt"/>
                <a:cs typeface="+mn-lt"/>
              </a:rPr>
              <a:t>Radiotherapy combined with surgery represented the most common treatment strategy in the dataset.</a:t>
            </a:r>
          </a:p>
          <a:p>
            <a:endParaRPr lang="en-US" sz="2000" dirty="0">
              <a:solidFill>
                <a:schemeClr val="bg1"/>
              </a:solidFill>
            </a:endParaRPr>
          </a:p>
        </p:txBody>
      </p:sp>
      <p:pic>
        <p:nvPicPr>
          <p:cNvPr id="2" name="Picture 1">
            <a:extLst>
              <a:ext uri="{FF2B5EF4-FFF2-40B4-BE49-F238E27FC236}">
                <a16:creationId xmlns:a16="http://schemas.microsoft.com/office/drawing/2014/main" id="{7B999FA1-0F3E-E84B-E48C-E59BD4573718}"/>
              </a:ext>
            </a:extLst>
          </p:cNvPr>
          <p:cNvPicPr>
            <a:picLocks noChangeAspect="1"/>
          </p:cNvPicPr>
          <p:nvPr/>
        </p:nvPicPr>
        <p:blipFill>
          <a:blip r:embed="rId3"/>
          <a:stretch>
            <a:fillRect/>
          </a:stretch>
        </p:blipFill>
        <p:spPr>
          <a:xfrm>
            <a:off x="6335485" y="2061224"/>
            <a:ext cx="5856515" cy="4818352"/>
          </a:xfrm>
          <a:prstGeom prst="rect">
            <a:avLst/>
          </a:prstGeom>
        </p:spPr>
      </p:pic>
    </p:spTree>
    <p:extLst>
      <p:ext uri="{BB962C8B-B14F-4D97-AF65-F5344CB8AC3E}">
        <p14:creationId xmlns:p14="http://schemas.microsoft.com/office/powerpoint/2010/main" val="14821421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281D39C-16E5-C925-2043-F58B287CD94E}"/>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3EF2C849-8E63-B879-E47A-BDEDF930CDA2}"/>
              </a:ext>
            </a:extLst>
          </p:cNvPr>
          <p:cNvPicPr>
            <a:picLocks noChangeAspect="1"/>
          </p:cNvPicPr>
          <p:nvPr/>
        </p:nvPicPr>
        <p:blipFill>
          <a:blip r:embed="rId2"/>
          <a:srcRect r="-1190" b="-901"/>
          <a:stretch>
            <a:fillRect/>
          </a:stretch>
        </p:blipFill>
        <p:spPr>
          <a:xfrm flipH="1">
            <a:off x="2601119" y="769711"/>
            <a:ext cx="264319" cy="362979"/>
          </a:xfrm>
          <a:prstGeom prst="rect">
            <a:avLst/>
          </a:prstGeom>
        </p:spPr>
      </p:pic>
      <p:sp>
        <p:nvSpPr>
          <p:cNvPr id="18" name="TextBox 17">
            <a:extLst>
              <a:ext uri="{FF2B5EF4-FFF2-40B4-BE49-F238E27FC236}">
                <a16:creationId xmlns:a16="http://schemas.microsoft.com/office/drawing/2014/main" id="{8BEC7770-0990-3425-3D52-3570E014DC64}"/>
              </a:ext>
            </a:extLst>
          </p:cNvPr>
          <p:cNvSpPr txBox="1"/>
          <p:nvPr/>
        </p:nvSpPr>
        <p:spPr>
          <a:xfrm flipH="1">
            <a:off x="2269066" y="-354995"/>
            <a:ext cx="7549848" cy="75716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9" name="TextBox 18">
            <a:extLst>
              <a:ext uri="{FF2B5EF4-FFF2-40B4-BE49-F238E27FC236}">
                <a16:creationId xmlns:a16="http://schemas.microsoft.com/office/drawing/2014/main" id="{6D9A9B08-022F-D281-5279-5ECFD555701C}"/>
              </a:ext>
            </a:extLst>
          </p:cNvPr>
          <p:cNvSpPr txBox="1"/>
          <p:nvPr/>
        </p:nvSpPr>
        <p:spPr>
          <a:xfrm rot="-10800000" flipV="1">
            <a:off x="2368550" y="660975"/>
            <a:ext cx="6432550" cy="5836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F4C430"/>
                </a:solidFill>
                <a:ea typeface="+mn-lt"/>
                <a:cs typeface="+mn-lt"/>
              </a:rPr>
              <a:t>     Survival &amp; Prognostic Insights</a:t>
            </a:r>
            <a:endParaRPr lang="en-US" b="1"/>
          </a:p>
        </p:txBody>
      </p:sp>
      <p:sp>
        <p:nvSpPr>
          <p:cNvPr id="3" name="TextBox 2">
            <a:extLst>
              <a:ext uri="{FF2B5EF4-FFF2-40B4-BE49-F238E27FC236}">
                <a16:creationId xmlns:a16="http://schemas.microsoft.com/office/drawing/2014/main" id="{6AE0E796-200F-68E2-4974-CEFB444991C8}"/>
              </a:ext>
            </a:extLst>
          </p:cNvPr>
          <p:cNvSpPr txBox="1"/>
          <p:nvPr/>
        </p:nvSpPr>
        <p:spPr>
          <a:xfrm>
            <a:off x="176752" y="1501524"/>
            <a:ext cx="6070600" cy="4708981"/>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en-US" b="1" dirty="0">
                <a:solidFill>
                  <a:schemeClr val="bg1"/>
                </a:solidFill>
              </a:rPr>
              <a:t>         </a:t>
            </a:r>
            <a:br>
              <a:rPr lang="en-US" b="1" dirty="0">
                <a:solidFill>
                  <a:schemeClr val="bg1"/>
                </a:solidFill>
              </a:rPr>
            </a:br>
            <a:br>
              <a:rPr lang="en-US" b="1" dirty="0">
                <a:solidFill>
                  <a:schemeClr val="bg1"/>
                </a:solidFill>
              </a:rPr>
            </a:br>
            <a:r>
              <a:rPr lang="en-US" sz="2400" b="1" dirty="0">
                <a:solidFill>
                  <a:schemeClr val="bg1"/>
                </a:solidFill>
              </a:rPr>
              <a:t>  </a:t>
            </a:r>
            <a:r>
              <a:rPr lang="en-US" sz="2400" b="1">
                <a:solidFill>
                  <a:srgbClr val="FFC000"/>
                </a:solidFill>
              </a:rPr>
              <a:t>Findings :</a:t>
            </a:r>
            <a:br>
              <a:rPr lang="en-US" sz="2400" b="1" dirty="0">
                <a:solidFill>
                  <a:schemeClr val="bg1"/>
                </a:solidFill>
              </a:rPr>
            </a:br>
            <a:br>
              <a:rPr lang="en-US" sz="2400" b="1" dirty="0">
                <a:solidFill>
                  <a:schemeClr val="bg1"/>
                </a:solidFill>
              </a:rPr>
            </a:br>
            <a:endParaRPr lang="en-US">
              <a:solidFill>
                <a:schemeClr val="bg1"/>
              </a:solidFill>
            </a:endParaRPr>
          </a:p>
          <a:p>
            <a:pPr marL="285750" indent="-285750">
              <a:buFont typeface="Arial"/>
              <a:buChar char="•"/>
            </a:pPr>
            <a:r>
              <a:rPr lang="en-US">
                <a:solidFill>
                  <a:schemeClr val="bg1"/>
                </a:solidFill>
                <a:ea typeface="+mn-lt"/>
                <a:cs typeface="+mn-lt"/>
              </a:rPr>
              <a:t>70.6% of patients remained disease-free</a:t>
            </a:r>
            <a:r>
              <a:rPr lang="en-US" dirty="0">
                <a:solidFill>
                  <a:schemeClr val="bg1"/>
                </a:solidFill>
                <a:ea typeface="+mn-lt"/>
                <a:cs typeface="+mn-lt"/>
              </a:rPr>
              <a:t> </a:t>
            </a:r>
            <a:r>
              <a:rPr lang="en-US">
                <a:solidFill>
                  <a:schemeClr val="bg1"/>
                </a:solidFill>
                <a:ea typeface="+mn-lt"/>
                <a:cs typeface="+mn-lt"/>
              </a:rPr>
              <a:t>during follow-up. </a:t>
            </a:r>
            <a:endParaRPr lang="en-US">
              <a:solidFill>
                <a:schemeClr val="bg1"/>
              </a:solidFill>
            </a:endParaRPr>
          </a:p>
          <a:p>
            <a:pPr marL="285750" indent="-285750">
              <a:buFont typeface="Arial"/>
              <a:buChar char="•"/>
            </a:pPr>
            <a:r>
              <a:rPr lang="en-US">
                <a:solidFill>
                  <a:schemeClr val="bg1"/>
                </a:solidFill>
                <a:ea typeface="+mn-lt"/>
                <a:cs typeface="+mn-lt"/>
              </a:rPr>
              <a:t>High-grade tumors were associated with less favorable patient outcomes than lower-grade tumors. </a:t>
            </a:r>
            <a:endParaRPr lang="en-US">
              <a:solidFill>
                <a:schemeClr val="bg1"/>
              </a:solidFill>
            </a:endParaRPr>
          </a:p>
          <a:p>
            <a:pPr marL="285750" indent="-285750">
              <a:buFont typeface="Arial"/>
              <a:buChar char="•"/>
            </a:pPr>
            <a:r>
              <a:rPr lang="en-US">
                <a:solidFill>
                  <a:schemeClr val="bg1"/>
                </a:solidFill>
                <a:ea typeface="+mn-lt"/>
                <a:cs typeface="+mn-lt"/>
              </a:rPr>
              <a:t>Survival outcomes varied across sarcoma families, highlighting differences in disease behavior. </a:t>
            </a:r>
            <a:endParaRPr lang="en-US">
              <a:solidFill>
                <a:schemeClr val="bg1"/>
              </a:solidFill>
            </a:endParaRPr>
          </a:p>
          <a:p>
            <a:pPr marL="285750" indent="-285750">
              <a:buFont typeface="Arial"/>
              <a:buChar char="•"/>
            </a:pPr>
            <a:r>
              <a:rPr lang="en-US">
                <a:solidFill>
                  <a:schemeClr val="bg1"/>
                </a:solidFill>
                <a:ea typeface="+mn-lt"/>
                <a:cs typeface="+mn-lt"/>
              </a:rPr>
              <a:t>Recurrence remained relatively uncommon</a:t>
            </a:r>
            <a:r>
              <a:rPr lang="en-US" dirty="0">
                <a:solidFill>
                  <a:schemeClr val="bg1"/>
                </a:solidFill>
                <a:ea typeface="+mn-lt"/>
                <a:cs typeface="+mn-lt"/>
              </a:rPr>
              <a:t> </a:t>
            </a:r>
            <a:r>
              <a:rPr lang="en-US">
                <a:solidFill>
                  <a:schemeClr val="bg1"/>
                </a:solidFill>
                <a:ea typeface="+mn-lt"/>
                <a:cs typeface="+mn-lt"/>
              </a:rPr>
              <a:t>compared with metastatic progression. </a:t>
            </a:r>
            <a:endParaRPr lang="en-US">
              <a:solidFill>
                <a:schemeClr val="bg1"/>
              </a:solidFill>
            </a:endParaRPr>
          </a:p>
          <a:p>
            <a:pPr marL="285750" indent="-285750">
              <a:buFont typeface="Arial"/>
              <a:buChar char="•"/>
            </a:pPr>
            <a:r>
              <a:rPr lang="en-US">
                <a:solidFill>
                  <a:schemeClr val="bg1"/>
                </a:solidFill>
                <a:ea typeface="+mn-lt"/>
                <a:cs typeface="+mn-lt"/>
              </a:rPr>
              <a:t>Survival patterns were comparable across male and female patients in this dataset. </a:t>
            </a:r>
            <a:endParaRPr lang="en-US">
              <a:solidFill>
                <a:schemeClr val="bg1"/>
              </a:solidFill>
            </a:endParaRPr>
          </a:p>
          <a:p>
            <a:endParaRPr lang="en-US" dirty="0">
              <a:solidFill>
                <a:schemeClr val="bg1"/>
              </a:solidFill>
            </a:endParaRPr>
          </a:p>
        </p:txBody>
      </p:sp>
      <p:pic>
        <p:nvPicPr>
          <p:cNvPr id="6" name="Picture 5">
            <a:extLst>
              <a:ext uri="{FF2B5EF4-FFF2-40B4-BE49-F238E27FC236}">
                <a16:creationId xmlns:a16="http://schemas.microsoft.com/office/drawing/2014/main" id="{75447879-EB47-48FB-83AF-A19B813BD7D3}"/>
              </a:ext>
            </a:extLst>
          </p:cNvPr>
          <p:cNvPicPr>
            <a:picLocks noChangeAspect="1"/>
          </p:cNvPicPr>
          <p:nvPr/>
        </p:nvPicPr>
        <p:blipFill>
          <a:blip r:embed="rId3"/>
          <a:stretch>
            <a:fillRect/>
          </a:stretch>
        </p:blipFill>
        <p:spPr>
          <a:xfrm>
            <a:off x="6310541" y="2874611"/>
            <a:ext cx="5833569" cy="3928635"/>
          </a:xfrm>
          <a:prstGeom prst="rect">
            <a:avLst/>
          </a:prstGeom>
        </p:spPr>
      </p:pic>
    </p:spTree>
    <p:extLst>
      <p:ext uri="{BB962C8B-B14F-4D97-AF65-F5344CB8AC3E}">
        <p14:creationId xmlns:p14="http://schemas.microsoft.com/office/powerpoint/2010/main" val="3094108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EFB91FB-2631-739F-5E05-11BFF2B25D84}"/>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AE949643-4993-40D6-B8A7-45AF71F38B1A}"/>
              </a:ext>
            </a:extLst>
          </p:cNvPr>
          <p:cNvPicPr>
            <a:picLocks noChangeAspect="1"/>
          </p:cNvPicPr>
          <p:nvPr/>
        </p:nvPicPr>
        <p:blipFill>
          <a:blip r:embed="rId2"/>
          <a:srcRect r="-1190" b="-901"/>
          <a:stretch>
            <a:fillRect/>
          </a:stretch>
        </p:blipFill>
        <p:spPr>
          <a:xfrm flipH="1">
            <a:off x="3147219" y="26761"/>
            <a:ext cx="340519" cy="470929"/>
          </a:xfrm>
          <a:prstGeom prst="rect">
            <a:avLst/>
          </a:prstGeom>
        </p:spPr>
      </p:pic>
      <p:sp>
        <p:nvSpPr>
          <p:cNvPr id="18" name="TextBox 17">
            <a:extLst>
              <a:ext uri="{FF2B5EF4-FFF2-40B4-BE49-F238E27FC236}">
                <a16:creationId xmlns:a16="http://schemas.microsoft.com/office/drawing/2014/main" id="{A09E45EB-FD03-6303-E4B8-9A1B026C9109}"/>
              </a:ext>
            </a:extLst>
          </p:cNvPr>
          <p:cNvSpPr txBox="1"/>
          <p:nvPr/>
        </p:nvSpPr>
        <p:spPr>
          <a:xfrm flipH="1">
            <a:off x="2269066" y="-354995"/>
            <a:ext cx="7549848" cy="75716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9" name="TextBox 18">
            <a:extLst>
              <a:ext uri="{FF2B5EF4-FFF2-40B4-BE49-F238E27FC236}">
                <a16:creationId xmlns:a16="http://schemas.microsoft.com/office/drawing/2014/main" id="{8F2204F1-2B8C-20DE-5C2E-D6F6838553F5}"/>
              </a:ext>
            </a:extLst>
          </p:cNvPr>
          <p:cNvSpPr txBox="1"/>
          <p:nvPr/>
        </p:nvSpPr>
        <p:spPr>
          <a:xfrm>
            <a:off x="3048000" y="25400"/>
            <a:ext cx="65532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solidFill>
                  <a:srgbClr val="F4C430"/>
                </a:solidFill>
                <a:ea typeface="+mn-lt"/>
                <a:cs typeface="+mn-lt"/>
              </a:rPr>
              <a:t>     </a:t>
            </a:r>
            <a:r>
              <a:rPr lang="en-US" sz="3200" b="1">
                <a:solidFill>
                  <a:srgbClr val="F4C430"/>
                </a:solidFill>
                <a:ea typeface="+mn-lt"/>
                <a:cs typeface="+mn-lt"/>
              </a:rPr>
              <a:t>Key Business/Clinical Insights</a:t>
            </a:r>
            <a:endParaRPr lang="en-US" b="1">
              <a:ea typeface="+mn-lt"/>
              <a:cs typeface="+mn-lt"/>
            </a:endParaRPr>
          </a:p>
        </p:txBody>
      </p:sp>
      <p:sp>
        <p:nvSpPr>
          <p:cNvPr id="3" name="TextBox 2">
            <a:extLst>
              <a:ext uri="{FF2B5EF4-FFF2-40B4-BE49-F238E27FC236}">
                <a16:creationId xmlns:a16="http://schemas.microsoft.com/office/drawing/2014/main" id="{EB8AA2C3-C4F5-CAE3-512D-104C99747927}"/>
              </a:ext>
            </a:extLst>
          </p:cNvPr>
          <p:cNvSpPr txBox="1"/>
          <p:nvPr/>
        </p:nvSpPr>
        <p:spPr>
          <a:xfrm>
            <a:off x="252952" y="596332"/>
            <a:ext cx="6070600" cy="5693866"/>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en-US" b="1" dirty="0">
                <a:solidFill>
                  <a:schemeClr val="bg1"/>
                </a:solidFill>
              </a:rPr>
              <a:t>         </a:t>
            </a:r>
            <a:br>
              <a:rPr lang="en-US" b="1" dirty="0">
                <a:solidFill>
                  <a:schemeClr val="bg1"/>
                </a:solidFill>
              </a:rPr>
            </a:br>
            <a:br>
              <a:rPr lang="en-US" b="1" dirty="0">
                <a:solidFill>
                  <a:schemeClr val="bg1"/>
                </a:solidFill>
              </a:rPr>
            </a:br>
            <a:r>
              <a:rPr lang="en-US" sz="2400" b="1" dirty="0">
                <a:solidFill>
                  <a:srgbClr val="FFC000"/>
                </a:solidFill>
              </a:rPr>
              <a:t>  Major </a:t>
            </a:r>
            <a:r>
              <a:rPr lang="en-US" sz="2400" b="1">
                <a:solidFill>
                  <a:srgbClr val="FFC000"/>
                </a:solidFill>
              </a:rPr>
              <a:t>Findings :</a:t>
            </a:r>
            <a:br>
              <a:rPr lang="en-US" sz="2400" b="1" dirty="0">
                <a:solidFill>
                  <a:schemeClr val="bg1"/>
                </a:solidFill>
              </a:rPr>
            </a:br>
            <a:br>
              <a:rPr lang="en-US" sz="2400" b="1" dirty="0">
                <a:solidFill>
                  <a:schemeClr val="bg1"/>
                </a:solidFill>
              </a:rPr>
            </a:br>
            <a:endParaRPr lang="en-US">
              <a:solidFill>
                <a:schemeClr val="bg1"/>
              </a:solidFill>
            </a:endParaRPr>
          </a:p>
          <a:p>
            <a:pPr marL="285750" indent="-285750">
              <a:buFont typeface="Arial"/>
              <a:buChar char="•"/>
            </a:pPr>
            <a:r>
              <a:rPr lang="en-US" sz="2000">
                <a:solidFill>
                  <a:schemeClr val="bg1"/>
                </a:solidFill>
                <a:ea typeface="+mn-lt"/>
                <a:cs typeface="+mn-lt"/>
              </a:rPr>
              <a:t>Liposarcoma represented the largest sarcoma family. </a:t>
            </a:r>
            <a:endParaRPr lang="en-US" sz="2000">
              <a:solidFill>
                <a:schemeClr val="bg1"/>
              </a:solidFill>
            </a:endParaRPr>
          </a:p>
          <a:p>
            <a:pPr marL="285750" indent="-285750">
              <a:buFont typeface="Arial"/>
              <a:buChar char="•"/>
            </a:pPr>
            <a:r>
              <a:rPr lang="en-US" sz="2000">
                <a:solidFill>
                  <a:schemeClr val="bg1"/>
                </a:solidFill>
                <a:ea typeface="+mn-lt"/>
                <a:cs typeface="+mn-lt"/>
              </a:rPr>
              <a:t>High-grade tumors were more common than low-grade tumors. </a:t>
            </a:r>
            <a:endParaRPr lang="en-US" sz="2000">
              <a:solidFill>
                <a:schemeClr val="bg1"/>
              </a:solidFill>
            </a:endParaRPr>
          </a:p>
          <a:p>
            <a:pPr marL="285750" indent="-285750">
              <a:buFont typeface="Arial"/>
              <a:buChar char="•"/>
            </a:pPr>
            <a:r>
              <a:rPr lang="en-US" sz="2000" dirty="0">
                <a:solidFill>
                  <a:schemeClr val="bg1"/>
                </a:solidFill>
                <a:ea typeface="+mn-lt"/>
                <a:cs typeface="+mn-lt"/>
              </a:rPr>
              <a:t>Older adults accounted for the majority of patients. </a:t>
            </a:r>
            <a:endParaRPr lang="en-US" sz="2000" dirty="0">
              <a:solidFill>
                <a:schemeClr val="bg1"/>
              </a:solidFill>
            </a:endParaRPr>
          </a:p>
          <a:p>
            <a:pPr marL="285750" indent="-285750">
              <a:buFont typeface="Arial"/>
              <a:buChar char="•"/>
            </a:pPr>
            <a:r>
              <a:rPr lang="en-US" sz="2000">
                <a:solidFill>
                  <a:schemeClr val="bg1"/>
                </a:solidFill>
                <a:ea typeface="+mn-lt"/>
                <a:cs typeface="+mn-lt"/>
              </a:rPr>
              <a:t>Lung metastasis was the predominant metastatic presentation. </a:t>
            </a:r>
            <a:endParaRPr lang="en-US" sz="2000">
              <a:solidFill>
                <a:schemeClr val="bg1"/>
              </a:solidFill>
            </a:endParaRPr>
          </a:p>
          <a:p>
            <a:pPr marL="285750" indent="-285750">
              <a:buFont typeface="Arial"/>
              <a:buChar char="•"/>
            </a:pPr>
            <a:r>
              <a:rPr lang="en-US" sz="2000">
                <a:solidFill>
                  <a:schemeClr val="bg1"/>
                </a:solidFill>
                <a:ea typeface="+mn-lt"/>
                <a:cs typeface="+mn-lt"/>
              </a:rPr>
              <a:t>Most patients achieved </a:t>
            </a:r>
            <a:r>
              <a:rPr lang="en-US" sz="2000" b="1">
                <a:solidFill>
                  <a:schemeClr val="bg1"/>
                </a:solidFill>
                <a:ea typeface="+mn-lt"/>
                <a:cs typeface="+mn-lt"/>
              </a:rPr>
              <a:t>No Evidence of Disease</a:t>
            </a:r>
            <a:r>
              <a:rPr lang="en-US" sz="2000" dirty="0">
                <a:solidFill>
                  <a:schemeClr val="bg1"/>
                </a:solidFill>
                <a:ea typeface="+mn-lt"/>
                <a:cs typeface="+mn-lt"/>
              </a:rPr>
              <a:t> </a:t>
            </a:r>
            <a:r>
              <a:rPr lang="en-US" sz="2000">
                <a:solidFill>
                  <a:schemeClr val="bg1"/>
                </a:solidFill>
                <a:ea typeface="+mn-lt"/>
                <a:cs typeface="+mn-lt"/>
              </a:rPr>
              <a:t>following treatment. </a:t>
            </a:r>
            <a:endParaRPr lang="en-US" sz="2000">
              <a:solidFill>
                <a:schemeClr val="bg1"/>
              </a:solidFill>
            </a:endParaRPr>
          </a:p>
          <a:p>
            <a:pPr marL="285750" indent="-285750">
              <a:buFont typeface="Arial"/>
              <a:buChar char="•"/>
            </a:pPr>
            <a:r>
              <a:rPr lang="en-US" sz="2000">
                <a:solidFill>
                  <a:schemeClr val="bg1"/>
                </a:solidFill>
                <a:ea typeface="+mn-lt"/>
                <a:cs typeface="+mn-lt"/>
              </a:rPr>
              <a:t>Radiotherapy with surgery was the most frequently administered treatment. </a:t>
            </a:r>
            <a:endParaRPr lang="en-US" sz="2000">
              <a:solidFill>
                <a:schemeClr val="bg1"/>
              </a:solidFill>
            </a:endParaRPr>
          </a:p>
          <a:p>
            <a:pPr marL="285750" indent="-285750">
              <a:buFont typeface="Arial"/>
              <a:buChar char="•"/>
            </a:pPr>
            <a:r>
              <a:rPr lang="en-US" sz="2000">
                <a:solidFill>
                  <a:schemeClr val="bg1"/>
                </a:solidFill>
                <a:ea typeface="+mn-lt"/>
                <a:cs typeface="+mn-lt"/>
              </a:rPr>
              <a:t>Survival outcomes varied across sarcoma families. </a:t>
            </a:r>
            <a:endParaRPr lang="en-US" sz="2000" dirty="0">
              <a:solidFill>
                <a:schemeClr val="bg1"/>
              </a:solidFill>
              <a:ea typeface="+mn-lt"/>
              <a:cs typeface="+mn-lt"/>
            </a:endParaRPr>
          </a:p>
          <a:p>
            <a:endParaRPr lang="en-US" sz="2200" dirty="0">
              <a:solidFill>
                <a:schemeClr val="bg1"/>
              </a:solidFill>
            </a:endParaRPr>
          </a:p>
        </p:txBody>
      </p:sp>
      <p:pic>
        <p:nvPicPr>
          <p:cNvPr id="2" name="Picture 1">
            <a:extLst>
              <a:ext uri="{FF2B5EF4-FFF2-40B4-BE49-F238E27FC236}">
                <a16:creationId xmlns:a16="http://schemas.microsoft.com/office/drawing/2014/main" id="{83E2A34B-7149-88D9-96E5-21993FCFE199}"/>
              </a:ext>
            </a:extLst>
          </p:cNvPr>
          <p:cNvPicPr>
            <a:picLocks noChangeAspect="1"/>
          </p:cNvPicPr>
          <p:nvPr/>
        </p:nvPicPr>
        <p:blipFill>
          <a:blip r:embed="rId3"/>
          <a:stretch>
            <a:fillRect/>
          </a:stretch>
        </p:blipFill>
        <p:spPr>
          <a:xfrm>
            <a:off x="6827158" y="1578882"/>
            <a:ext cx="5083628" cy="4890407"/>
          </a:xfrm>
          <a:prstGeom prst="rect">
            <a:avLst/>
          </a:prstGeom>
        </p:spPr>
      </p:pic>
    </p:spTree>
    <p:extLst>
      <p:ext uri="{BB962C8B-B14F-4D97-AF65-F5344CB8AC3E}">
        <p14:creationId xmlns:p14="http://schemas.microsoft.com/office/powerpoint/2010/main" val="1616907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4893A34-1C84-7EAF-5945-D659820E775B}"/>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E2D185B9-BE56-C3D4-36F5-E88FF0E81B32}"/>
              </a:ext>
            </a:extLst>
          </p:cNvPr>
          <p:cNvPicPr>
            <a:picLocks noChangeAspect="1"/>
          </p:cNvPicPr>
          <p:nvPr/>
        </p:nvPicPr>
        <p:blipFill>
          <a:blip r:embed="rId2"/>
          <a:srcRect r="-1190" b="-901"/>
          <a:stretch>
            <a:fillRect/>
          </a:stretch>
        </p:blipFill>
        <p:spPr>
          <a:xfrm flipH="1">
            <a:off x="3045619" y="520247"/>
            <a:ext cx="340519" cy="470929"/>
          </a:xfrm>
          <a:prstGeom prst="rect">
            <a:avLst/>
          </a:prstGeom>
        </p:spPr>
      </p:pic>
      <p:sp>
        <p:nvSpPr>
          <p:cNvPr id="18" name="TextBox 17">
            <a:extLst>
              <a:ext uri="{FF2B5EF4-FFF2-40B4-BE49-F238E27FC236}">
                <a16:creationId xmlns:a16="http://schemas.microsoft.com/office/drawing/2014/main" id="{D2662275-7245-E222-83DF-B8878F88ED96}"/>
              </a:ext>
            </a:extLst>
          </p:cNvPr>
          <p:cNvSpPr txBox="1"/>
          <p:nvPr/>
        </p:nvSpPr>
        <p:spPr>
          <a:xfrm flipH="1">
            <a:off x="2269066" y="-354995"/>
            <a:ext cx="7549848" cy="75716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9" name="TextBox 18">
            <a:extLst>
              <a:ext uri="{FF2B5EF4-FFF2-40B4-BE49-F238E27FC236}">
                <a16:creationId xmlns:a16="http://schemas.microsoft.com/office/drawing/2014/main" id="{2FD3565A-F15D-9E5C-B0A2-F90914298426}"/>
              </a:ext>
            </a:extLst>
          </p:cNvPr>
          <p:cNvSpPr txBox="1"/>
          <p:nvPr/>
        </p:nvSpPr>
        <p:spPr>
          <a:xfrm>
            <a:off x="3049814" y="428171"/>
            <a:ext cx="48641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solidFill>
                  <a:srgbClr val="F4C430"/>
                </a:solidFill>
                <a:ea typeface="+mn-lt"/>
                <a:cs typeface="+mn-lt"/>
              </a:rPr>
              <a:t>   </a:t>
            </a:r>
            <a:r>
              <a:rPr lang="en-US" sz="3600" b="1">
                <a:solidFill>
                  <a:srgbClr val="F4C430"/>
                </a:solidFill>
                <a:ea typeface="+mn-lt"/>
                <a:cs typeface="+mn-lt"/>
              </a:rPr>
              <a:t>Recommendations</a:t>
            </a:r>
            <a:endParaRPr lang="en-US" sz="3600" b="1">
              <a:ea typeface="+mn-lt"/>
              <a:cs typeface="+mn-lt"/>
            </a:endParaRPr>
          </a:p>
        </p:txBody>
      </p:sp>
      <p:sp>
        <p:nvSpPr>
          <p:cNvPr id="3" name="TextBox 2">
            <a:extLst>
              <a:ext uri="{FF2B5EF4-FFF2-40B4-BE49-F238E27FC236}">
                <a16:creationId xmlns:a16="http://schemas.microsoft.com/office/drawing/2014/main" id="{EA0C9A02-3E8E-CDCC-6EE0-683917862C09}"/>
              </a:ext>
            </a:extLst>
          </p:cNvPr>
          <p:cNvSpPr txBox="1"/>
          <p:nvPr/>
        </p:nvSpPr>
        <p:spPr>
          <a:xfrm>
            <a:off x="111438" y="1817177"/>
            <a:ext cx="6070600" cy="467820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en-US" b="1" dirty="0">
                <a:solidFill>
                  <a:schemeClr val="bg1"/>
                </a:solidFill>
              </a:rPr>
              <a:t>         </a:t>
            </a:r>
            <a:br>
              <a:rPr lang="en-US" b="1" dirty="0">
                <a:solidFill>
                  <a:schemeClr val="bg1"/>
                </a:solidFill>
              </a:rPr>
            </a:br>
            <a:br>
              <a:rPr lang="en-US" b="1" dirty="0">
                <a:solidFill>
                  <a:schemeClr val="bg1"/>
                </a:solidFill>
              </a:rPr>
            </a:br>
            <a:r>
              <a:rPr lang="en-US" sz="2400" b="1" dirty="0">
                <a:solidFill>
                  <a:srgbClr val="FFC000"/>
                </a:solidFill>
              </a:rPr>
              <a:t>  </a:t>
            </a:r>
            <a:r>
              <a:rPr lang="en-US" sz="2400" b="1">
                <a:solidFill>
                  <a:srgbClr val="FFC000"/>
                </a:solidFill>
                <a:ea typeface="+mn-lt"/>
                <a:cs typeface="+mn-lt"/>
              </a:rPr>
              <a:t>Clinical Recommendations :</a:t>
            </a:r>
            <a:br>
              <a:rPr lang="en-US" sz="2400" b="1" dirty="0">
                <a:solidFill>
                  <a:schemeClr val="bg1"/>
                </a:solidFill>
              </a:rPr>
            </a:br>
            <a:endParaRPr lang="en-US" b="1">
              <a:solidFill>
                <a:srgbClr val="F4C430"/>
              </a:solidFill>
            </a:endParaRPr>
          </a:p>
          <a:p>
            <a:pPr>
              <a:buFont typeface="Arial"/>
              <a:buChar char="•"/>
            </a:pPr>
            <a:r>
              <a:rPr lang="en-US" sz="2000" b="1">
                <a:solidFill>
                  <a:srgbClr val="F4C430"/>
                </a:solidFill>
                <a:ea typeface="+mn-lt"/>
                <a:cs typeface="+mn-lt"/>
              </a:rPr>
              <a:t>Based on the findings:</a:t>
            </a:r>
            <a:br>
              <a:rPr lang="en-US" sz="2000" b="1" dirty="0">
                <a:solidFill>
                  <a:srgbClr val="F4C430"/>
                </a:solidFill>
                <a:ea typeface="+mn-lt"/>
                <a:cs typeface="+mn-lt"/>
              </a:rPr>
            </a:br>
            <a:endParaRPr lang="en-US" sz="2000" b="1" dirty="0">
              <a:solidFill>
                <a:srgbClr val="F4C430"/>
              </a:solidFill>
              <a:ea typeface="+mn-lt"/>
              <a:cs typeface="+mn-lt"/>
            </a:endParaRPr>
          </a:p>
          <a:p>
            <a:pPr>
              <a:buFont typeface="Arial"/>
              <a:buChar char="•"/>
            </a:pPr>
            <a:r>
              <a:rPr lang="en-US" sz="2000">
                <a:solidFill>
                  <a:schemeClr val="bg1"/>
                </a:solidFill>
                <a:ea typeface="+mn-lt"/>
                <a:cs typeface="+mn-lt"/>
              </a:rPr>
              <a:t>Strengthen early detection initiatives for high-risk patients. </a:t>
            </a:r>
            <a:endParaRPr lang="en-US">
              <a:solidFill>
                <a:schemeClr val="bg1"/>
              </a:solidFill>
              <a:ea typeface="+mn-lt"/>
              <a:cs typeface="+mn-lt"/>
            </a:endParaRPr>
          </a:p>
          <a:p>
            <a:pPr>
              <a:buFont typeface="Arial"/>
              <a:buChar char="•"/>
            </a:pPr>
            <a:r>
              <a:rPr lang="en-US" sz="2000">
                <a:solidFill>
                  <a:schemeClr val="bg1"/>
                </a:solidFill>
                <a:ea typeface="+mn-lt"/>
                <a:cs typeface="+mn-lt"/>
              </a:rPr>
              <a:t>Monitor patients with high-grade tumors more closely. </a:t>
            </a:r>
            <a:endParaRPr lang="en-US">
              <a:solidFill>
                <a:schemeClr val="bg1"/>
              </a:solidFill>
              <a:ea typeface="+mn-lt"/>
              <a:cs typeface="+mn-lt"/>
            </a:endParaRPr>
          </a:p>
          <a:p>
            <a:pPr>
              <a:buFont typeface="Arial"/>
              <a:buChar char="•"/>
            </a:pPr>
            <a:r>
              <a:rPr lang="en-US" sz="2000">
                <a:solidFill>
                  <a:schemeClr val="bg1"/>
                </a:solidFill>
                <a:ea typeface="+mn-lt"/>
                <a:cs typeface="+mn-lt"/>
              </a:rPr>
              <a:t>Improve surveillance for lung metastasis. </a:t>
            </a:r>
            <a:endParaRPr lang="en-US">
              <a:solidFill>
                <a:schemeClr val="bg1"/>
              </a:solidFill>
              <a:ea typeface="+mn-lt"/>
              <a:cs typeface="+mn-lt"/>
            </a:endParaRPr>
          </a:p>
          <a:p>
            <a:pPr>
              <a:buFont typeface="Arial"/>
              <a:buChar char="•"/>
            </a:pPr>
            <a:r>
              <a:rPr lang="en-US" sz="2000">
                <a:solidFill>
                  <a:schemeClr val="bg1"/>
                </a:solidFill>
                <a:ea typeface="+mn-lt"/>
                <a:cs typeface="+mn-lt"/>
              </a:rPr>
              <a:t>Encourage multidisciplinary treatment planning. </a:t>
            </a:r>
            <a:endParaRPr lang="en-US">
              <a:solidFill>
                <a:schemeClr val="bg1"/>
              </a:solidFill>
              <a:ea typeface="+mn-lt"/>
              <a:cs typeface="+mn-lt"/>
            </a:endParaRPr>
          </a:p>
          <a:p>
            <a:pPr>
              <a:buFont typeface="Arial"/>
              <a:buChar char="•"/>
            </a:pPr>
            <a:r>
              <a:rPr lang="en-US" sz="2000">
                <a:solidFill>
                  <a:schemeClr val="bg1"/>
                </a:solidFill>
                <a:ea typeface="+mn-lt"/>
                <a:cs typeface="+mn-lt"/>
              </a:rPr>
              <a:t>Use interactive dashboards to support evidence-based clinical decision-making.</a:t>
            </a:r>
            <a:endParaRPr lang="en-US">
              <a:solidFill>
                <a:schemeClr val="bg1"/>
              </a:solidFill>
              <a:ea typeface="+mn-lt"/>
              <a:cs typeface="+mn-lt"/>
            </a:endParaRPr>
          </a:p>
          <a:p>
            <a:pPr marL="285750" indent="-285750">
              <a:buFont typeface="Arial"/>
              <a:buChar char="•"/>
            </a:pPr>
            <a:endParaRPr lang="en-US" sz="2000" dirty="0">
              <a:solidFill>
                <a:schemeClr val="bg1"/>
              </a:solidFill>
            </a:endParaRPr>
          </a:p>
        </p:txBody>
      </p:sp>
      <p:pic>
        <p:nvPicPr>
          <p:cNvPr id="2" name="Picture 1">
            <a:extLst>
              <a:ext uri="{FF2B5EF4-FFF2-40B4-BE49-F238E27FC236}">
                <a16:creationId xmlns:a16="http://schemas.microsoft.com/office/drawing/2014/main" id="{35D69CF5-19CC-2FC4-DDE1-57A9BC56E48D}"/>
              </a:ext>
            </a:extLst>
          </p:cNvPr>
          <p:cNvPicPr>
            <a:picLocks noChangeAspect="1"/>
          </p:cNvPicPr>
          <p:nvPr/>
        </p:nvPicPr>
        <p:blipFill>
          <a:blip r:embed="rId3"/>
          <a:stretch>
            <a:fillRect/>
          </a:stretch>
        </p:blipFill>
        <p:spPr>
          <a:xfrm>
            <a:off x="6341154" y="2141083"/>
            <a:ext cx="5598433" cy="4353833"/>
          </a:xfrm>
          <a:prstGeom prst="rect">
            <a:avLst/>
          </a:prstGeom>
        </p:spPr>
      </p:pic>
    </p:spTree>
    <p:extLst>
      <p:ext uri="{BB962C8B-B14F-4D97-AF65-F5344CB8AC3E}">
        <p14:creationId xmlns:p14="http://schemas.microsoft.com/office/powerpoint/2010/main" val="1055919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246F94D-8079-2339-3ECB-D2EB8C77A4C5}"/>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162A4962-E908-85DB-4AF0-0D25E82ADE32}"/>
              </a:ext>
            </a:extLst>
          </p:cNvPr>
          <p:cNvPicPr>
            <a:picLocks noChangeAspect="1"/>
          </p:cNvPicPr>
          <p:nvPr/>
        </p:nvPicPr>
        <p:blipFill>
          <a:blip r:embed="rId2"/>
          <a:srcRect r="-1190" b="-901"/>
          <a:stretch>
            <a:fillRect/>
          </a:stretch>
        </p:blipFill>
        <p:spPr>
          <a:xfrm flipH="1">
            <a:off x="3515519" y="661761"/>
            <a:ext cx="277019" cy="382029"/>
          </a:xfrm>
          <a:prstGeom prst="rect">
            <a:avLst/>
          </a:prstGeom>
        </p:spPr>
      </p:pic>
      <p:sp>
        <p:nvSpPr>
          <p:cNvPr id="18" name="TextBox 17">
            <a:extLst>
              <a:ext uri="{FF2B5EF4-FFF2-40B4-BE49-F238E27FC236}">
                <a16:creationId xmlns:a16="http://schemas.microsoft.com/office/drawing/2014/main" id="{6F84C5BA-72ED-1CF7-BD51-18BADA1CB1D3}"/>
              </a:ext>
            </a:extLst>
          </p:cNvPr>
          <p:cNvSpPr txBox="1"/>
          <p:nvPr/>
        </p:nvSpPr>
        <p:spPr>
          <a:xfrm flipH="1">
            <a:off x="2269066" y="-354995"/>
            <a:ext cx="7549848" cy="75716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9" name="TextBox 18">
            <a:extLst>
              <a:ext uri="{FF2B5EF4-FFF2-40B4-BE49-F238E27FC236}">
                <a16:creationId xmlns:a16="http://schemas.microsoft.com/office/drawing/2014/main" id="{7D5084CF-4444-E5EF-83E8-B274BD5E1360}"/>
              </a:ext>
            </a:extLst>
          </p:cNvPr>
          <p:cNvSpPr txBox="1"/>
          <p:nvPr/>
        </p:nvSpPr>
        <p:spPr>
          <a:xfrm>
            <a:off x="2959100" y="527050"/>
            <a:ext cx="60325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F4C430"/>
                </a:solidFill>
                <a:ea typeface="+mn-lt"/>
                <a:cs typeface="+mn-lt"/>
              </a:rPr>
              <a:t>         </a:t>
            </a:r>
            <a:r>
              <a:rPr lang="en-US" sz="3600" b="1">
                <a:solidFill>
                  <a:srgbClr val="F4C430"/>
                </a:solidFill>
                <a:ea typeface="+mn-lt"/>
                <a:cs typeface="+mn-lt"/>
              </a:rPr>
              <a:t>Conclusion</a:t>
            </a:r>
            <a:endParaRPr lang="en-US" sz="3600" b="1">
              <a:ea typeface="+mn-lt"/>
              <a:cs typeface="+mn-lt"/>
            </a:endParaRPr>
          </a:p>
        </p:txBody>
      </p:sp>
      <p:sp>
        <p:nvSpPr>
          <p:cNvPr id="3" name="TextBox 2">
            <a:extLst>
              <a:ext uri="{FF2B5EF4-FFF2-40B4-BE49-F238E27FC236}">
                <a16:creationId xmlns:a16="http://schemas.microsoft.com/office/drawing/2014/main" id="{6C530CEF-5E92-F10A-6718-54B8238072C4}"/>
              </a:ext>
            </a:extLst>
          </p:cNvPr>
          <p:cNvSpPr txBox="1"/>
          <p:nvPr/>
        </p:nvSpPr>
        <p:spPr>
          <a:xfrm>
            <a:off x="240252" y="1713763"/>
            <a:ext cx="5736772" cy="4692718"/>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en-US" b="1" dirty="0">
                <a:solidFill>
                  <a:schemeClr val="bg1"/>
                </a:solidFill>
              </a:rPr>
              <a:t>         </a:t>
            </a:r>
            <a:br>
              <a:rPr lang="en-US" b="1" dirty="0">
                <a:solidFill>
                  <a:schemeClr val="bg1"/>
                </a:solidFill>
              </a:rPr>
            </a:br>
            <a:br>
              <a:rPr lang="en-US" b="1" dirty="0">
                <a:solidFill>
                  <a:schemeClr val="bg1"/>
                </a:solidFill>
              </a:rPr>
            </a:br>
            <a:r>
              <a:rPr lang="en-US" sz="2400" b="1" dirty="0">
                <a:solidFill>
                  <a:srgbClr val="FFC000"/>
                </a:solidFill>
              </a:rPr>
              <a:t>  </a:t>
            </a:r>
            <a:r>
              <a:rPr lang="en-US" sz="2400" b="1">
                <a:solidFill>
                  <a:srgbClr val="FFC000"/>
                </a:solidFill>
                <a:ea typeface="+mn-lt"/>
                <a:cs typeface="+mn-lt"/>
              </a:rPr>
              <a:t>Clinical Recommendations :</a:t>
            </a:r>
            <a:br>
              <a:rPr lang="en-US" sz="2400" b="1" dirty="0">
                <a:solidFill>
                  <a:schemeClr val="bg1"/>
                </a:solidFill>
              </a:rPr>
            </a:br>
            <a:endParaRPr lang="en-US" b="1">
              <a:solidFill>
                <a:srgbClr val="F4C430"/>
              </a:solidFill>
            </a:endParaRPr>
          </a:p>
          <a:p>
            <a:pPr>
              <a:buFont typeface="Arial"/>
              <a:buChar char="•"/>
            </a:pPr>
            <a:r>
              <a:rPr lang="en-US" sz="2000" b="1">
                <a:solidFill>
                  <a:srgbClr val="F4C430"/>
                </a:solidFill>
                <a:ea typeface="+mn-lt"/>
                <a:cs typeface="+mn-lt"/>
              </a:rPr>
              <a:t>Based on the findings:</a:t>
            </a:r>
            <a:br>
              <a:rPr lang="en-US" sz="2000" b="1" dirty="0">
                <a:solidFill>
                  <a:srgbClr val="F4C430"/>
                </a:solidFill>
                <a:ea typeface="+mn-lt"/>
                <a:cs typeface="+mn-lt"/>
              </a:rPr>
            </a:br>
            <a:endParaRPr lang="en-US" sz="2000" b="1" dirty="0">
              <a:solidFill>
                <a:srgbClr val="F4C430"/>
              </a:solidFill>
              <a:ea typeface="+mn-lt"/>
              <a:cs typeface="+mn-lt"/>
            </a:endParaRPr>
          </a:p>
          <a:p>
            <a:pPr>
              <a:buFont typeface="Arial"/>
              <a:buChar char="•"/>
            </a:pPr>
            <a:r>
              <a:rPr lang="en-US" sz="2000">
                <a:solidFill>
                  <a:schemeClr val="bg1"/>
                </a:solidFill>
                <a:ea typeface="+mn-lt"/>
                <a:cs typeface="+mn-lt"/>
              </a:rPr>
              <a:t>This dashboard demonstrates how healthcare data can be transformed into actionable clinical insights using Power BI.</a:t>
            </a:r>
            <a:endParaRPr lang="en-US">
              <a:solidFill>
                <a:schemeClr val="bg1"/>
              </a:solidFill>
              <a:ea typeface="+mn-lt"/>
              <a:cs typeface="+mn-lt"/>
            </a:endParaRPr>
          </a:p>
          <a:p>
            <a:pPr>
              <a:buFont typeface="Arial"/>
              <a:buChar char="•"/>
            </a:pPr>
            <a:r>
              <a:rPr lang="en-US" sz="2000">
                <a:solidFill>
                  <a:schemeClr val="bg1"/>
                </a:solidFill>
                <a:ea typeface="+mn-lt"/>
                <a:cs typeface="+mn-lt"/>
              </a:rPr>
              <a:t>Through interactive visualizations, clinicians and healthcare administrators can better understand patient demographics, treatment patterns, metastatic progression, and survival outcomes to support evidence-based decision-making.</a:t>
            </a:r>
            <a:endParaRPr lang="en-US">
              <a:solidFill>
                <a:schemeClr val="bg1"/>
              </a:solidFill>
              <a:ea typeface="+mn-lt"/>
              <a:cs typeface="+mn-lt"/>
            </a:endParaRPr>
          </a:p>
          <a:p>
            <a:pPr>
              <a:buFont typeface="Arial"/>
              <a:buChar char="•"/>
            </a:pPr>
            <a:endParaRPr lang="en-US" sz="2000" dirty="0">
              <a:solidFill>
                <a:schemeClr val="bg1"/>
              </a:solidFill>
            </a:endParaRPr>
          </a:p>
        </p:txBody>
      </p:sp>
      <p:pic>
        <p:nvPicPr>
          <p:cNvPr id="5" name="Picture 4">
            <a:extLst>
              <a:ext uri="{FF2B5EF4-FFF2-40B4-BE49-F238E27FC236}">
                <a16:creationId xmlns:a16="http://schemas.microsoft.com/office/drawing/2014/main" id="{60C406BC-1F27-7ECB-0E46-FEAF623AE88B}"/>
              </a:ext>
            </a:extLst>
          </p:cNvPr>
          <p:cNvPicPr>
            <a:picLocks noChangeAspect="1"/>
          </p:cNvPicPr>
          <p:nvPr/>
        </p:nvPicPr>
        <p:blipFill>
          <a:blip r:embed="rId3"/>
          <a:srcRect b="-441"/>
          <a:stretch>
            <a:fillRect/>
          </a:stretch>
        </p:blipFill>
        <p:spPr>
          <a:xfrm>
            <a:off x="6314396" y="1856242"/>
            <a:ext cx="5869666" cy="4662305"/>
          </a:xfrm>
          <a:prstGeom prst="rect">
            <a:avLst/>
          </a:prstGeom>
        </p:spPr>
      </p:pic>
    </p:spTree>
    <p:extLst>
      <p:ext uri="{BB962C8B-B14F-4D97-AF65-F5344CB8AC3E}">
        <p14:creationId xmlns:p14="http://schemas.microsoft.com/office/powerpoint/2010/main" val="1967380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DF06139-D4BF-D7B6-68F4-1D7E95D1C3D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E7AD967-106F-9DD3-32F9-8B89D8A1FAC4}"/>
              </a:ext>
            </a:extLst>
          </p:cNvPr>
          <p:cNvSpPr txBox="1"/>
          <p:nvPr/>
        </p:nvSpPr>
        <p:spPr>
          <a:xfrm>
            <a:off x="949548" y="406827"/>
            <a:ext cx="822148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chemeClr val="bg1"/>
                </a:solidFill>
                <a:ea typeface="+mn-lt"/>
                <a:cs typeface="+mn-lt"/>
              </a:rPr>
              <a:t>                     </a:t>
            </a:r>
            <a:endParaRPr lang="en-US" sz="2000" b="1">
              <a:solidFill>
                <a:schemeClr val="bg1"/>
              </a:solidFill>
            </a:endParaRPr>
          </a:p>
        </p:txBody>
      </p:sp>
      <p:pic>
        <p:nvPicPr>
          <p:cNvPr id="2" name="Picture 1">
            <a:extLst>
              <a:ext uri="{FF2B5EF4-FFF2-40B4-BE49-F238E27FC236}">
                <a16:creationId xmlns:a16="http://schemas.microsoft.com/office/drawing/2014/main" id="{66072E58-7CA4-D982-CFEE-71C01AD2EA75}"/>
              </a:ext>
            </a:extLst>
          </p:cNvPr>
          <p:cNvPicPr>
            <a:picLocks noChangeAspect="1"/>
          </p:cNvPicPr>
          <p:nvPr/>
        </p:nvPicPr>
        <p:blipFill>
          <a:blip r:embed="rId2"/>
          <a:stretch>
            <a:fillRect/>
          </a:stretch>
        </p:blipFill>
        <p:spPr>
          <a:xfrm>
            <a:off x="-1161" y="2925"/>
            <a:ext cx="12207127" cy="6839346"/>
          </a:xfrm>
          <a:prstGeom prst="rect">
            <a:avLst/>
          </a:prstGeom>
        </p:spPr>
      </p:pic>
    </p:spTree>
    <p:extLst>
      <p:ext uri="{BB962C8B-B14F-4D97-AF65-F5344CB8AC3E}">
        <p14:creationId xmlns:p14="http://schemas.microsoft.com/office/powerpoint/2010/main" val="25870501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160</TotalTime>
  <Words>887</Words>
  <Application>Microsoft Office PowerPoint</Application>
  <PresentationFormat>Widescreen</PresentationFormat>
  <Paragraphs>92</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Browallia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FORTUNE</dc:creator>
  <cp:lastModifiedBy>FORTUNE</cp:lastModifiedBy>
  <cp:revision>890</cp:revision>
  <dcterms:created xsi:type="dcterms:W3CDTF">2026-07-10T19:27:27Z</dcterms:created>
  <dcterms:modified xsi:type="dcterms:W3CDTF">2026-07-21T23:50:30Z</dcterms:modified>
</cp:coreProperties>
</file>